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8747A44-DF0A-3318-D867-7583E2E2332C}">
          <p14:sldIdLst>
            <p14:sldId id="256"/>
            <p14:sldId id="257"/>
          </p14:sldIdLst>
        </p14:section>
        <p14:section name="01 Investment LLM" id="{5886FA38-6F72-DB10-EC50-72CBC53A5C36}">
          <p14:sldIdLst>
            <p14:sldId id="258"/>
            <p14:sldId id="259"/>
            <p14:sldId id="260"/>
            <p14:sldId id="261"/>
            <p14:sldId id="262"/>
            <p14:sldId id="263"/>
            <p14:sldId id="264"/>
            <p14:sldId id="265"/>
            <p14:sldId id="266"/>
            <p14:sldId id="267"/>
            <p14:sldId id="268"/>
          </p14:sldIdLst>
        </p14:section>
        <p14:section name="02 Market simulation" id="{68C4068E-1FA6-4D93-B8AA-E17560501CF9}">
          <p14:sldIdLst>
            <p14:sldId id="269"/>
            <p14:sldId id="270"/>
            <p14:sldId id="271"/>
            <p14:sldId id="272"/>
            <p14:sldId id="273"/>
          </p14:sldIdLst>
        </p14:section>
        <p14:section name="Discussion" id="{7C4A3700-113E-63C0-55D7-D45B27203C60}">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323F"/>
                </a:solidFill>
                <a:latin typeface="+mn-lt"/>
              </a:defRPr>
            </a:pPr>
            <a:r>
              <a:rPr lang="en-US" sz="1300" b="0" i="0" u="none" strike="noStrike">
                <a:solidFill>
                  <a:srgbClr val="16323F"/>
                </a:solidFill>
                <a:latin typeface="+mn-lt"/>
              </a:rPr>
              <a:t>Indicator return over the next 20 steps (bp/step, mean of 4 seeds)</a:t>
            </a:r>
          </a:p>
        </c:rich>
      </c:tx>
      <c:overlay val="0"/>
    </c:title>
    <c:autoTitleDeleted val="0"/>
    <c:plotArea>
      <c:layout/>
      <c:barChart>
        <c:barDir val="col"/>
        <c:grouping val="clustered"/>
        <c:varyColors val="0"/>
        <c:ser>
          <c:idx val="0"/>
          <c:order val="0"/>
          <c:tx>
            <c:strRef>
              <c:f>Sheet1!$B$1</c:f>
              <c:strCache>
                <c:ptCount val="1"/>
                <c:pt idx="0">
                  <c:v>Few users (least crowded 20%)</c:v>
                </c:pt>
              </c:strCache>
            </c:strRef>
          </c:tx>
          <c:spPr>
            <a:solidFill>
              <a:srgbClr val="2A9D8F"/>
            </a:solidFill>
            <a:effectLst/>
          </c:spPr>
          <c:invertIfNegative val="0"/>
          <c:dLbls>
            <c:numFmt formatCode="0.0" sourceLinked="0"/>
            <c:spPr>
              <a:noFill/>
              <a:ln>
                <a:noFill/>
              </a:ln>
              <a:effectLst/>
            </c:spPr>
            <c:txPr>
              <a:bodyPr/>
              <a:lstStyle/>
              <a:p>
                <a:pPr>
                  <a:defRPr sz="1200" b="0" i="0" u="none" strike="noStrike">
                    <a:solidFill>
                      <a:srgbClr val="1B1B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 impact</c:v>
                </c:pt>
                <c:pt idx="1">
                  <c:v>Low</c:v>
                </c:pt>
                <c:pt idx="2">
                  <c:v>Medium</c:v>
                </c:pt>
                <c:pt idx="3">
                  <c:v>High</c:v>
                </c:pt>
              </c:strCache>
            </c:strRef>
          </c:cat>
          <c:val>
            <c:numRef>
              <c:f>Sheet1!$B$2:$B$5</c:f>
              <c:numCache>
                <c:formatCode>General</c:formatCode>
                <c:ptCount val="4"/>
                <c:pt idx="0">
                  <c:v>0.4</c:v>
                </c:pt>
                <c:pt idx="1">
                  <c:v>-0.2</c:v>
                </c:pt>
                <c:pt idx="2">
                  <c:v>-0.7</c:v>
                </c:pt>
                <c:pt idx="3">
                  <c:v>-1.1000000000000001</c:v>
                </c:pt>
              </c:numCache>
            </c:numRef>
          </c:val>
          <c:extLst>
            <c:ext xmlns:c16="http://schemas.microsoft.com/office/drawing/2014/chart" uri="{C3380CC4-5D6E-409C-BE32-E72D297353CC}">
              <c16:uniqueId val="{00000000-3873-497F-BBA6-F4C360615E3B}"/>
            </c:ext>
          </c:extLst>
        </c:ser>
        <c:ser>
          <c:idx val="1"/>
          <c:order val="1"/>
          <c:tx>
            <c:strRef>
              <c:f>Sheet1!$C$1</c:f>
              <c:strCache>
                <c:ptCount val="1"/>
                <c:pt idx="0">
                  <c:v>Many users (most crowded 20%)</c:v>
                </c:pt>
              </c:strCache>
            </c:strRef>
          </c:tx>
          <c:spPr>
            <a:solidFill>
              <a:srgbClr val="E76F51"/>
            </a:solidFill>
            <a:effectLst/>
          </c:spPr>
          <c:invertIfNegative val="0"/>
          <c:dLbls>
            <c:numFmt formatCode="0.0" sourceLinked="0"/>
            <c:spPr>
              <a:noFill/>
              <a:ln>
                <a:noFill/>
              </a:ln>
              <a:effectLst/>
            </c:spPr>
            <c:txPr>
              <a:bodyPr/>
              <a:lstStyle/>
              <a:p>
                <a:pPr>
                  <a:defRPr sz="1200" b="0" i="0" u="none" strike="noStrike">
                    <a:solidFill>
                      <a:srgbClr val="1B1B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 impact</c:v>
                </c:pt>
                <c:pt idx="1">
                  <c:v>Low</c:v>
                </c:pt>
                <c:pt idx="2">
                  <c:v>Medium</c:v>
                </c:pt>
                <c:pt idx="3">
                  <c:v>High</c:v>
                </c:pt>
              </c:strCache>
            </c:strRef>
          </c:cat>
          <c:val>
            <c:numRef>
              <c:f>Sheet1!$C$2:$C$5</c:f>
              <c:numCache>
                <c:formatCode>General</c:formatCode>
                <c:ptCount val="4"/>
                <c:pt idx="0">
                  <c:v>1.1000000000000001</c:v>
                </c:pt>
                <c:pt idx="1">
                  <c:v>-2.2000000000000002</c:v>
                </c:pt>
                <c:pt idx="2">
                  <c:v>-5.0999999999999996</c:v>
                </c:pt>
                <c:pt idx="3">
                  <c:v>-10.4</c:v>
                </c:pt>
              </c:numCache>
            </c:numRef>
          </c:val>
          <c:extLst>
            <c:ext xmlns:c16="http://schemas.microsoft.com/office/drawing/2014/chart" uri="{C3380CC4-5D6E-409C-BE32-E72D297353CC}">
              <c16:uniqueId val="{00000001-3873-497F-BBA6-F4C360615E3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200" b="0" i="0" u="none" strike="noStrike">
                    <a:solidFill>
                      <a:srgbClr val="5B7C99"/>
                    </a:solidFill>
                    <a:latin typeface="+mn-lt"/>
                  </a:defRPr>
                </a:pPr>
                <a:r>
                  <a:rPr lang="en-US" sz="1200" b="0" i="0" u="none" strike="noStrike">
                    <a:solidFill>
                      <a:srgbClr val="5B7C99"/>
                    </a:solidFill>
                    <a:latin typeface="+mn-lt"/>
                  </a:rPr>
                  <a:t>Price impact strength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B1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E2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C9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B1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919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candidates. Each one has a small working prototype (a 'spike'). I want advice on which direction is the better research topic.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spikes run. Numbers in this deck are from those prototypes, so please read them as feasibility checks.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is a retail investor who does not know what to ask. LLMs help with that, but they make up numbers, mix up time, present expired market knowledge as always true, and agree with the user. This framing comes from a trader mentor's advice.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are ready-made questions for each type. Type 6 is the mentor's example: the system breaks a vague personal question into answerable questions, and gives information, not advice.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knowledge is the new part. Market rules hold in some periods and conditions and fail in others, the 'market is a circle' idea. The system stores where they held and re-tests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1 to 4 match the mentor's list: financial database, connection between app and database, turning raw data into a usable form, and connecting the LLM to the database.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Spike 1 uses SEC XBRL data for Apple. Spike 2 compares keyword rules with reference labels written by an LLM, so 31% shows difficulty, not a precise score. Spike 3 runs on pure random walks, where the true Sharpe ratio is zero.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big player in this version: the only thing crowding does is move the price. The switching rule is essentially Brock and Hommes (1998). The constant-trend case removes any outside reason for the indicator to get better or worse, so any cycle there would have to come from crowding. Each run is 20,000 steps.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switching-trend fundamental, mean of 4 seeds. Constant trend gives the same picture (most crowded -10.4 bp at high impact). 1 bp = 0.01%.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share of traders using the indicator, same random numbers, with price impact (orange) and without (blue). Link 3 fails in this model: the ups and downs are almost identical without any crowding effect. So in this model the answer is: crowded indicators do work worse, and deserted ones recover, but the timing of the ups and downs is driven by luck, not by crowding.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10698480" cy="137160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731520" y="3154680"/>
            <a:ext cx="10698480" cy="1463040"/>
          </a:xfrm>
          <a:prstGeom prst="rect">
            <a:avLst/>
          </a:prstGeom>
          <a:noFill/>
          <a:ln/>
        </p:spPr>
        <p:txBody>
          <a:bodyPr wrap="square" rtlCol="0"/>
          <a:lstStyle>
            <a:lvl1pPr marL="0" indent="0">
              <a:buNone/>
              <a:defRPr lang="en-US" sz="2000" dirty="0">
                <a:solidFill>
                  <a:schemeClr val="accent1"/>
                </a:solidFill>
              </a:defRPr>
            </a:lvl1pPr>
          </a:lstStyle>
          <a:p>
            <a:pPr marL="0" indent="0">
              <a:buNone/>
            </a:pPr>
            <a:endParaRPr lang="en-US" sz="2000" dirty="0"/>
          </a:p>
        </p:txBody>
      </p:sp>
      <p:sp>
        <p:nvSpPr>
          <p:cNvPr id="4" name="Text 0"/>
          <p:cNvSpPr>
            <a:spLocks noGrp="1"/>
          </p:cNvSpPr>
          <p:nvPr>
            <p:ph type="body" idx="102" hasCustomPrompt="1"/>
          </p:nvPr>
        </p:nvSpPr>
        <p:spPr>
          <a:xfrm>
            <a:off x="731520" y="5669280"/>
            <a:ext cx="10698480" cy="548640"/>
          </a:xfrm>
          <a:prstGeom prst="rect">
            <a:avLst/>
          </a:prstGeom>
          <a:noFill/>
          <a:ln/>
        </p:spPr>
        <p:txBody>
          <a:bodyPr wrap="square" rtlCol="0"/>
          <a:lstStyle>
            <a:lvl1pPr marL="0" indent="0">
              <a:buNone/>
              <a:defRPr lang="en-US" sz="1400" dirty="0">
                <a:solidFill>
                  <a:schemeClr val="bg2"/>
                </a:solidFill>
              </a:defRPr>
            </a:lvl1pPr>
          </a:lstStyle>
          <a:p>
            <a:pPr marL="0" indent="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18872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731520" y="3703320"/>
            <a:ext cx="10698480" cy="109728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buNone/>
              <a:defRPr lang="en-US" sz="3200" b="1" dirty="0">
                <a:solidFill>
                  <a:schemeClr val="tx2"/>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3" name="Text 0"/>
          <p:cNvSpPr/>
          <p:nvPr/>
        </p:nvSpPr>
        <p:spPr>
          <a:xfrm>
            <a:off x="548640" y="6355080"/>
            <a:ext cx="7315200" cy="320040"/>
          </a:xfrm>
          <a:prstGeom prst="rect">
            <a:avLst/>
          </a:prstGeom>
          <a:noFill/>
          <a:ln/>
        </p:spPr>
        <p:txBody>
          <a:bodyPr wrap="square" rtlCol="0" anchor="ctr"/>
          <a:lstStyle/>
          <a:p>
            <a:pPr marL="0" indent="0">
              <a:buNone/>
            </a:pPr>
            <a:r>
              <a:rPr lang="en-US" sz="1000" dirty="0">
                <a:solidFill>
                  <a:schemeClr val="accent4"/>
                </a:solidFill>
              </a:rPr>
              <a:t>Graduation research topic candidates · Oct 2026</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10698480" cy="137160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Graduation Research: Two Topic Candidates</a:t>
            </a:r>
            <a:endParaRPr lang="en-US" sz="4000" dirty="0"/>
          </a:p>
        </p:txBody>
      </p:sp>
      <p:sp>
        <p:nvSpPr>
          <p:cNvPr id="3" name="Text 0"/>
          <p:cNvSpPr>
            <a:spLocks noGrp="1"/>
          </p:cNvSpPr>
          <p:nvPr>
            <p:ph type="body" idx="101" hasCustomPrompt="1"/>
          </p:nvPr>
        </p:nvSpPr>
        <p:spPr>
          <a:xfrm>
            <a:off x="731520" y="3154680"/>
            <a:ext cx="10698480" cy="1463040"/>
          </a:xfrm>
          <a:prstGeom prst="rect">
            <a:avLst/>
          </a:prstGeom>
          <a:noFill/>
          <a:ln/>
        </p:spPr>
        <p:txBody>
          <a:bodyPr wrap="square" rtlCol="0" anchor="t"/>
          <a:lstStyle/>
          <a:p>
            <a:pPr marL="0" indent="0">
              <a:buNone/>
            </a:pPr>
            <a:r>
              <a:rPr lang="en-US" sz="2000" dirty="0">
                <a:solidFill>
                  <a:schemeClr val="accent1"/>
                </a:solidFill>
              </a:rPr>
              <a:t>01  Natural-language investment LLM for retail investors</a:t>
            </a:r>
            <a:endParaRPr lang="en-US" sz="2000" dirty="0"/>
          </a:p>
          <a:p>
            <a:pPr marL="0" indent="0">
              <a:buNone/>
            </a:pPr>
            <a:r>
              <a:rPr lang="en-US" sz="2000" dirty="0">
                <a:solidFill>
                  <a:schemeClr val="accent1"/>
                </a:solidFill>
              </a:rPr>
              <a:t>02  Is the market a circle? An agent-based simulation</a:t>
            </a:r>
            <a:endParaRPr lang="en-US" sz="2000" dirty="0"/>
          </a:p>
        </p:txBody>
      </p:sp>
      <p:sp>
        <p:nvSpPr>
          <p:cNvPr id="4" name="Text 0"/>
          <p:cNvSpPr>
            <a:spLocks noGrp="1"/>
          </p:cNvSpPr>
          <p:nvPr>
            <p:ph type="body" idx="102" hasCustomPrompt="1"/>
          </p:nvPr>
        </p:nvSpPr>
        <p:spPr>
          <a:xfrm>
            <a:off x="731520" y="5669280"/>
            <a:ext cx="10698480" cy="548640"/>
          </a:xfrm>
          <a:prstGeom prst="rect">
            <a:avLst/>
          </a:prstGeom>
          <a:noFill/>
          <a:ln/>
        </p:spPr>
        <p:txBody>
          <a:bodyPr wrap="square" rtlCol="0" anchor="t"/>
          <a:lstStyle/>
          <a:p>
            <a:pPr marL="0" indent="0">
              <a:buNone/>
            </a:pPr>
            <a:r>
              <a:rPr lang="en-US" sz="1400" dirty="0">
                <a:solidFill>
                  <a:schemeClr val="bg2"/>
                </a:solidFill>
              </a:rPr>
              <a:t>Nim · Kochi Kosen, Information Security Course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Two candidates, each with a working prototype</a:t>
            </a:r>
            <a:endParaRPr lang="en-US" sz="3200" dirty="0"/>
          </a:p>
        </p:txBody>
      </p:sp>
      <p:sp>
        <p:nvSpPr>
          <p:cNvPr id="3" name="card-01"/>
          <p:cNvSpPr/>
          <p:nvPr/>
        </p:nvSpPr>
        <p:spPr>
          <a:xfrm>
            <a:off x="548640" y="1463040"/>
            <a:ext cx="5394960" cy="4206240"/>
          </a:xfrm>
          <a:prstGeom prst="roundRect">
            <a:avLst>
              <a:gd name="adj" fmla="val 2609"/>
            </a:avLst>
          </a:prstGeom>
          <a:solidFill>
            <a:schemeClr val="bg2"/>
          </a:solidFill>
          <a:ln/>
        </p:spPr>
      </p:sp>
      <p:sp>
        <p:nvSpPr>
          <p:cNvPr id="4" name="num-01"/>
          <p:cNvSpPr/>
          <p:nvPr/>
        </p:nvSpPr>
        <p:spPr>
          <a:xfrm>
            <a:off x="914400" y="1783080"/>
            <a:ext cx="822960" cy="822960"/>
          </a:xfrm>
          <a:prstGeom prst="ellipse">
            <a:avLst/>
          </a:prstGeom>
          <a:solidFill>
            <a:schemeClr val="accent2"/>
          </a:solidFill>
          <a:ln/>
        </p:spPr>
      </p:sp>
      <p:sp>
        <p:nvSpPr>
          <p:cNvPr id="5" name="Text 3"/>
          <p:cNvSpPr txBox="1"/>
          <p:nvPr/>
        </p:nvSpPr>
        <p:spPr>
          <a:xfrm>
            <a:off x="914400" y="178308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01</a:t>
            </a:r>
            <a:endParaRPr lang="en-US" sz="2200" dirty="0"/>
          </a:p>
        </p:txBody>
      </p:sp>
      <p:sp>
        <p:nvSpPr>
          <p:cNvPr id="6" name="Text 4"/>
          <p:cNvSpPr txBox="1"/>
          <p:nvPr/>
        </p:nvSpPr>
        <p:spPr>
          <a:xfrm>
            <a:off x="1920240" y="1920240"/>
            <a:ext cx="3657600" cy="548640"/>
          </a:xfrm>
          <a:prstGeom prst="rect">
            <a:avLst/>
          </a:prstGeom>
          <a:noFill/>
          <a:ln/>
        </p:spPr>
        <p:txBody>
          <a:bodyPr wrap="square" lIns="0" tIns="0" rIns="0" bIns="0" rtlCol="0" anchor="ctr"/>
          <a:lstStyle/>
          <a:p>
            <a:pPr marL="0" indent="0">
              <a:buNone/>
            </a:pPr>
            <a:r>
              <a:rPr lang="en-US" sz="1400" b="1" dirty="0">
                <a:solidFill>
                  <a:schemeClr val="accent2"/>
                </a:solidFill>
              </a:rPr>
              <a:t>LLM</a:t>
            </a:r>
            <a:endParaRPr lang="en-US" sz="1400" dirty="0"/>
          </a:p>
        </p:txBody>
      </p:sp>
      <p:sp>
        <p:nvSpPr>
          <p:cNvPr id="7" name="Text 5"/>
          <p:cNvSpPr txBox="1"/>
          <p:nvPr/>
        </p:nvSpPr>
        <p:spPr>
          <a:xfrm>
            <a:off x="914400" y="2834640"/>
            <a:ext cx="4663440" cy="82296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Natural-language investment LLM for retail investors</a:t>
            </a:r>
            <a:endParaRPr lang="en-US" sz="2200" dirty="0"/>
          </a:p>
        </p:txBody>
      </p:sp>
      <p:sp>
        <p:nvSpPr>
          <p:cNvPr id="8" name="Text 6"/>
          <p:cNvSpPr txBox="1"/>
          <p:nvPr/>
        </p:nvSpPr>
        <p:spPr>
          <a:xfrm>
            <a:off x="914400" y="3703320"/>
            <a:ext cx="4663440" cy="914400"/>
          </a:xfrm>
          <a:prstGeom prst="rect">
            <a:avLst/>
          </a:prstGeom>
          <a:noFill/>
          <a:ln/>
        </p:spPr>
        <p:txBody>
          <a:bodyPr wrap="square" lIns="0" tIns="0" rIns="0" bIns="0" rtlCol="0" anchor="t"/>
          <a:lstStyle/>
          <a:p>
            <a:pPr marL="0" indent="0">
              <a:buNone/>
            </a:pPr>
            <a:r>
              <a:rPr lang="en-US" sz="1600" dirty="0">
                <a:solidFill>
                  <a:schemeClr val="tx1"/>
                </a:solidFill>
              </a:rPr>
              <a:t>Answer retail investors' questions while labeling what is absolute, conditional or opinion.</a:t>
            </a:r>
            <a:endParaRPr lang="en-US" sz="1600" dirty="0"/>
          </a:p>
        </p:txBody>
      </p:sp>
      <p:sp>
        <p:nvSpPr>
          <p:cNvPr id="9" name="Text 7"/>
          <p:cNvSpPr txBox="1"/>
          <p:nvPr/>
        </p:nvSpPr>
        <p:spPr>
          <a:xfrm>
            <a:off x="914400" y="4937760"/>
            <a:ext cx="4663440" cy="457200"/>
          </a:xfrm>
          <a:prstGeom prst="rect">
            <a:avLst/>
          </a:prstGeom>
          <a:noFill/>
          <a:ln/>
        </p:spPr>
        <p:txBody>
          <a:bodyPr wrap="square" lIns="0" tIns="0" rIns="0" bIns="0" rtlCol="0" anchor="t"/>
          <a:lstStyle/>
          <a:p>
            <a:pPr marL="0" indent="0">
              <a:buNone/>
            </a:pPr>
            <a:r>
              <a:rPr lang="en-US" sz="1400" i="1" dirty="0">
                <a:solidFill>
                  <a:schemeClr val="accent4"/>
                </a:solidFill>
              </a:rPr>
              <a:t>Spikes: SEC point-in-time data, labeling, leak detector</a:t>
            </a:r>
            <a:endParaRPr lang="en-US" sz="1400" dirty="0"/>
          </a:p>
        </p:txBody>
      </p:sp>
      <p:sp>
        <p:nvSpPr>
          <p:cNvPr id="10" name="card-02"/>
          <p:cNvSpPr/>
          <p:nvPr/>
        </p:nvSpPr>
        <p:spPr>
          <a:xfrm>
            <a:off x="6263640" y="1463040"/>
            <a:ext cx="5394960" cy="4206240"/>
          </a:xfrm>
          <a:prstGeom prst="roundRect">
            <a:avLst>
              <a:gd name="adj" fmla="val 2609"/>
            </a:avLst>
          </a:prstGeom>
          <a:solidFill>
            <a:schemeClr val="bg2"/>
          </a:solidFill>
          <a:ln/>
        </p:spPr>
      </p:sp>
      <p:sp>
        <p:nvSpPr>
          <p:cNvPr id="11" name="num-02"/>
          <p:cNvSpPr/>
          <p:nvPr/>
        </p:nvSpPr>
        <p:spPr>
          <a:xfrm>
            <a:off x="6629400" y="1783080"/>
            <a:ext cx="822960" cy="822960"/>
          </a:xfrm>
          <a:prstGeom prst="ellipse">
            <a:avLst/>
          </a:prstGeom>
          <a:solidFill>
            <a:schemeClr val="accent1"/>
          </a:solidFill>
          <a:ln/>
        </p:spPr>
      </p:sp>
      <p:sp>
        <p:nvSpPr>
          <p:cNvPr id="12" name="Text 10"/>
          <p:cNvSpPr txBox="1"/>
          <p:nvPr/>
        </p:nvSpPr>
        <p:spPr>
          <a:xfrm>
            <a:off x="6629400" y="178308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02</a:t>
            </a:r>
            <a:endParaRPr lang="en-US" sz="2200" dirty="0"/>
          </a:p>
        </p:txBody>
      </p:sp>
      <p:sp>
        <p:nvSpPr>
          <p:cNvPr id="13" name="Text 11"/>
          <p:cNvSpPr txBox="1"/>
          <p:nvPr/>
        </p:nvSpPr>
        <p:spPr>
          <a:xfrm>
            <a:off x="7635240" y="1920240"/>
            <a:ext cx="3657600" cy="548640"/>
          </a:xfrm>
          <a:prstGeom prst="rect">
            <a:avLst/>
          </a:prstGeom>
          <a:noFill/>
          <a:ln/>
        </p:spPr>
        <p:txBody>
          <a:bodyPr wrap="square" lIns="0" tIns="0" rIns="0" bIns="0" rtlCol="0" anchor="ctr"/>
          <a:lstStyle/>
          <a:p>
            <a:pPr marL="0" indent="0">
              <a:buNone/>
            </a:pPr>
            <a:r>
              <a:rPr lang="en-US" sz="1400" b="1" dirty="0">
                <a:solidFill>
                  <a:schemeClr val="accent1"/>
                </a:solidFill>
              </a:rPr>
              <a:t>SIMULATION</a:t>
            </a:r>
            <a:endParaRPr lang="en-US" sz="1400" dirty="0"/>
          </a:p>
        </p:txBody>
      </p:sp>
      <p:sp>
        <p:nvSpPr>
          <p:cNvPr id="14" name="Text 12"/>
          <p:cNvSpPr txBox="1"/>
          <p:nvPr/>
        </p:nvSpPr>
        <p:spPr>
          <a:xfrm>
            <a:off x="6629400" y="2834640"/>
            <a:ext cx="4663440" cy="82296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Is the market a circle?</a:t>
            </a:r>
            <a:endParaRPr lang="en-US" sz="2200" dirty="0"/>
          </a:p>
        </p:txBody>
      </p:sp>
      <p:sp>
        <p:nvSpPr>
          <p:cNvPr id="15" name="Text 13"/>
          <p:cNvSpPr txBox="1"/>
          <p:nvPr/>
        </p:nvSpPr>
        <p:spPr>
          <a:xfrm>
            <a:off x="6629400" y="3703320"/>
            <a:ext cx="4663440" cy="914400"/>
          </a:xfrm>
          <a:prstGeom prst="rect">
            <a:avLst/>
          </a:prstGeom>
          <a:noFill/>
          <a:ln/>
        </p:spPr>
        <p:txBody>
          <a:bodyPr wrap="square" lIns="0" tIns="0" rIns="0" bIns="0" rtlCol="0" anchor="t"/>
          <a:lstStyle/>
          <a:p>
            <a:pPr marL="0" indent="0">
              <a:buNone/>
            </a:pPr>
            <a:r>
              <a:rPr lang="en-US" sz="1600" dirty="0">
                <a:solidFill>
                  <a:schemeClr val="tx1"/>
                </a:solidFill>
              </a:rPr>
              <a:t>When everyone uses the same indicator, does it stop working, and work again once people leave?</a:t>
            </a:r>
            <a:endParaRPr lang="en-US" sz="1600" dirty="0"/>
          </a:p>
        </p:txBody>
      </p:sp>
      <p:sp>
        <p:nvSpPr>
          <p:cNvPr id="16" name="Text 14"/>
          <p:cNvSpPr txBox="1"/>
          <p:nvPr/>
        </p:nvSpPr>
        <p:spPr>
          <a:xfrm>
            <a:off x="6629400" y="4937760"/>
            <a:ext cx="4663440" cy="457200"/>
          </a:xfrm>
          <a:prstGeom prst="rect">
            <a:avLst/>
          </a:prstGeom>
          <a:noFill/>
          <a:ln/>
        </p:spPr>
        <p:txBody>
          <a:bodyPr wrap="square" lIns="0" tIns="0" rIns="0" bIns="0" rtlCol="0" anchor="t"/>
          <a:lstStyle/>
          <a:p>
            <a:pPr marL="0" indent="0">
              <a:buNone/>
            </a:pPr>
            <a:r>
              <a:rPr lang="en-US" sz="1400" i="1" dirty="0">
                <a:solidFill>
                  <a:schemeClr val="accent4"/>
                </a:solidFill>
              </a:rPr>
              <a:t>Spike: 1,000-agent market model, 4 impact levels × 4 seeds</a:t>
            </a:r>
            <a:endParaRPr lang="en-US" sz="1400" dirty="0"/>
          </a:p>
        </p:txBody>
      </p:sp>
      <p:sp>
        <p:nvSpPr>
          <p:cNvPr id="17" name="Text 15"/>
          <p:cNvSpPr txBox="1"/>
          <p:nvPr/>
        </p:nvSpPr>
        <p:spPr>
          <a:xfrm>
            <a:off x="548640" y="5852160"/>
            <a:ext cx="11064240" cy="365760"/>
          </a:xfrm>
          <a:prstGeom prst="rect">
            <a:avLst/>
          </a:prstGeom>
          <a:noFill/>
          <a:ln/>
        </p:spPr>
        <p:txBody>
          <a:bodyPr wrap="square" lIns="0" tIns="0" rIns="0" bIns="0" rtlCol="0" anchor="t"/>
          <a:lstStyle/>
          <a:p>
            <a:pPr marL="0" indent="0">
              <a:buNone/>
            </a:pPr>
            <a:r>
              <a:rPr lang="en-US" sz="1200" i="1" dirty="0">
                <a:solidFill>
                  <a:schemeClr val="accent4"/>
                </a:solidFill>
              </a:rPr>
              <a:t>Spikes are one-night prototypes to test feasibility. They are not research results yet.</a:t>
            </a:r>
            <a:endParaRPr lang="en-US" sz="1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18872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01 · Natural-Language Investment LLM for Retail Investors</a:t>
            </a:r>
            <a:endParaRPr lang="en-US" sz="4000" dirty="0"/>
          </a:p>
        </p:txBody>
      </p:sp>
      <p:sp>
        <p:nvSpPr>
          <p:cNvPr id="3" name="Text 0"/>
          <p:cNvSpPr>
            <a:spLocks noGrp="1"/>
          </p:cNvSpPr>
          <p:nvPr>
            <p:ph type="body" idx="101" hasCustomPrompt="1"/>
          </p:nvPr>
        </p:nvSpPr>
        <p:spPr>
          <a:xfrm>
            <a:off x="731520" y="3703320"/>
            <a:ext cx="10698480" cy="1097280"/>
          </a:xfrm>
          <a:prstGeom prst="rect">
            <a:avLst/>
          </a:prstGeom>
          <a:noFill/>
          <a:ln/>
        </p:spPr>
        <p:txBody>
          <a:bodyPr wrap="square" rtlCol="0" anchor="t"/>
          <a:lstStyle/>
          <a:p>
            <a:pPr marL="0" indent="0">
              <a:buNone/>
            </a:pPr>
            <a:r>
              <a:rPr lang="en-US" sz="2000" dirty="0">
                <a:solidFill>
                  <a:schemeClr val="bg2"/>
                </a:solidFill>
              </a:rPr>
              <a:t>Separate absolute from conditional knowledge, and facts from opinions</a:t>
            </a: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Retail investors don't know what they don't know</a:t>
            </a:r>
            <a:endParaRPr lang="en-US" sz="3200" dirty="0"/>
          </a:p>
        </p:txBody>
      </p:sp>
      <p:sp>
        <p:nvSpPr>
          <p:cNvPr id="3" name="persona-card"/>
          <p:cNvSpPr/>
          <p:nvPr/>
        </p:nvSpPr>
        <p:spPr>
          <a:xfrm>
            <a:off x="548640" y="1371600"/>
            <a:ext cx="4297680" cy="4572000"/>
          </a:xfrm>
          <a:prstGeom prst="roundRect">
            <a:avLst>
              <a:gd name="adj" fmla="val 2553"/>
            </a:avLst>
          </a:prstGeom>
          <a:solidFill>
            <a:schemeClr val="bg2"/>
          </a:solidFill>
          <a:ln/>
        </p:spPr>
      </p:sp>
      <p:sp>
        <p:nvSpPr>
          <p:cNvPr id="4" name="Text 2"/>
          <p:cNvSpPr txBox="1"/>
          <p:nvPr/>
        </p:nvSpPr>
        <p:spPr>
          <a:xfrm>
            <a:off x="868680" y="1600200"/>
            <a:ext cx="3657600" cy="320040"/>
          </a:xfrm>
          <a:prstGeom prst="rect">
            <a:avLst/>
          </a:prstGeom>
          <a:noFill/>
          <a:ln/>
        </p:spPr>
        <p:txBody>
          <a:bodyPr wrap="square" lIns="0" tIns="0" rIns="0" bIns="0" rtlCol="0" anchor="t"/>
          <a:lstStyle/>
          <a:p>
            <a:pPr marL="0" indent="0">
              <a:buNone/>
            </a:pPr>
            <a:r>
              <a:rPr lang="en-US" sz="1200" b="1" dirty="0">
                <a:solidFill>
                  <a:schemeClr val="accent4"/>
                </a:solidFill>
              </a:rPr>
              <a:t>WHO</a:t>
            </a:r>
            <a:endParaRPr lang="en-US" sz="1200" dirty="0"/>
          </a:p>
        </p:txBody>
      </p:sp>
      <p:sp>
        <p:nvSpPr>
          <p:cNvPr id="5" name="Text 3"/>
          <p:cNvSpPr txBox="1"/>
          <p:nvPr/>
        </p:nvSpPr>
        <p:spPr>
          <a:xfrm>
            <a:off x="868680" y="1920240"/>
            <a:ext cx="3657600" cy="731520"/>
          </a:xfrm>
          <a:prstGeom prst="rect">
            <a:avLst/>
          </a:prstGeom>
          <a:noFill/>
          <a:ln/>
        </p:spPr>
        <p:txBody>
          <a:bodyPr wrap="square" lIns="0" tIns="0" rIns="0" bIns="0" rtlCol="0" anchor="t"/>
          <a:lstStyle/>
          <a:p>
            <a:pPr marL="0" indent="0">
              <a:buNone/>
            </a:pPr>
            <a:r>
              <a:rPr lang="en-US" sz="1600" dirty="0">
                <a:solidFill>
                  <a:schemeClr val="tx1"/>
                </a:solidFill>
              </a:rPr>
              <a:t>An interest, a thesis and one pot of money. Not a professional.</a:t>
            </a:r>
            <a:endParaRPr lang="en-US" sz="1600" dirty="0"/>
          </a:p>
        </p:txBody>
      </p:sp>
      <p:sp>
        <p:nvSpPr>
          <p:cNvPr id="6" name="Text 4"/>
          <p:cNvSpPr txBox="1"/>
          <p:nvPr/>
        </p:nvSpPr>
        <p:spPr>
          <a:xfrm>
            <a:off x="868680" y="2788920"/>
            <a:ext cx="3657600" cy="320040"/>
          </a:xfrm>
          <a:prstGeom prst="rect">
            <a:avLst/>
          </a:prstGeom>
          <a:noFill/>
          <a:ln/>
        </p:spPr>
        <p:txBody>
          <a:bodyPr wrap="square" lIns="0" tIns="0" rIns="0" bIns="0" rtlCol="0" anchor="t"/>
          <a:lstStyle/>
          <a:p>
            <a:pPr marL="0" indent="0">
              <a:buNone/>
            </a:pPr>
            <a:r>
              <a:rPr lang="en-US" sz="1200" b="1" dirty="0">
                <a:solidFill>
                  <a:schemeClr val="accent4"/>
                </a:solidFill>
              </a:rPr>
              <a:t>THEIR QUESTION</a:t>
            </a:r>
            <a:endParaRPr lang="en-US" sz="1200" dirty="0"/>
          </a:p>
        </p:txBody>
      </p:sp>
      <p:sp>
        <p:nvSpPr>
          <p:cNvPr id="7" name="Text 5"/>
          <p:cNvSpPr txBox="1"/>
          <p:nvPr/>
        </p:nvSpPr>
        <p:spPr>
          <a:xfrm>
            <a:off x="868680" y="3108960"/>
            <a:ext cx="3657600" cy="1097280"/>
          </a:xfrm>
          <a:prstGeom prst="rect">
            <a:avLst/>
          </a:prstGeom>
          <a:noFill/>
          <a:ln/>
        </p:spPr>
        <p:txBody>
          <a:bodyPr wrap="square" lIns="0" tIns="0" rIns="0" bIns="0" rtlCol="0" anchor="t"/>
          <a:lstStyle/>
          <a:p>
            <a:pPr marL="0" indent="0">
              <a:buNone/>
            </a:pPr>
            <a:r>
              <a:rPr lang="en-US" sz="1600" i="1" dirty="0">
                <a:solidFill>
                  <a:schemeClr val="tx1"/>
                </a:solidFill>
              </a:rPr>
              <a:t>“I have ¥1M spare. How can I earn more than an index fund without too much risk?”</a:t>
            </a:r>
            <a:endParaRPr lang="en-US" sz="1600" dirty="0"/>
          </a:p>
        </p:txBody>
      </p:sp>
      <p:sp>
        <p:nvSpPr>
          <p:cNvPr id="8" name="Text 6"/>
          <p:cNvSpPr txBox="1"/>
          <p:nvPr/>
        </p:nvSpPr>
        <p:spPr>
          <a:xfrm>
            <a:off x="868680" y="4526280"/>
            <a:ext cx="3657600" cy="1097280"/>
          </a:xfrm>
          <a:prstGeom prst="rect">
            <a:avLst/>
          </a:prstGeom>
          <a:noFill/>
          <a:ln/>
        </p:spPr>
        <p:txBody>
          <a:bodyPr wrap="square" lIns="0" tIns="0" rIns="0" bIns="0" rtlCol="0" anchor="t"/>
          <a:lstStyle/>
          <a:p>
            <a:pPr marL="0" indent="0">
              <a:buNone/>
            </a:pPr>
            <a:r>
              <a:rPr lang="en-US" sz="1500" b="1" dirty="0">
                <a:solidFill>
                  <a:schemeClr val="tx2"/>
                </a:solidFill>
              </a:rPr>
              <a:t>Real problem: </a:t>
            </a:r>
            <a:r>
              <a:rPr lang="en-US" sz="1500" dirty="0">
                <a:solidFill>
                  <a:schemeClr val="tx1"/>
                </a:solidFill>
              </a:rPr>
              <a:t>they cannot ask the right questions, so they lean on an LLM.</a:t>
            </a:r>
            <a:endParaRPr lang="en-US" sz="1500" dirty="0"/>
          </a:p>
        </p:txBody>
      </p:sp>
      <p:sp>
        <p:nvSpPr>
          <p:cNvPr id="9" name="fail-0"/>
          <p:cNvSpPr/>
          <p:nvPr/>
        </p:nvSpPr>
        <p:spPr>
          <a:xfrm>
            <a:off x="5303520" y="1417320"/>
            <a:ext cx="548640" cy="548640"/>
          </a:xfrm>
          <a:prstGeom prst="ellipse">
            <a:avLst/>
          </a:prstGeom>
          <a:solidFill>
            <a:schemeClr val="accent3"/>
          </a:solidFill>
          <a:ln/>
        </p:spPr>
      </p:sp>
      <p:sp>
        <p:nvSpPr>
          <p:cNvPr id="10" name="Text 8"/>
          <p:cNvSpPr txBox="1"/>
          <p:nvPr/>
        </p:nvSpPr>
        <p:spPr>
          <a:xfrm>
            <a:off x="5303520" y="14173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a:t>
            </a:r>
            <a:endParaRPr lang="en-US" sz="2000" dirty="0"/>
          </a:p>
        </p:txBody>
      </p:sp>
      <p:sp>
        <p:nvSpPr>
          <p:cNvPr id="11" name="Text 9"/>
          <p:cNvSpPr txBox="1"/>
          <p:nvPr/>
        </p:nvSpPr>
        <p:spPr>
          <a:xfrm>
            <a:off x="6035040" y="1371600"/>
            <a:ext cx="5577840" cy="411480"/>
          </a:xfrm>
          <a:prstGeom prst="rect">
            <a:avLst/>
          </a:prstGeom>
          <a:noFill/>
          <a:ln/>
        </p:spPr>
        <p:txBody>
          <a:bodyPr wrap="square" lIns="0" tIns="0" rIns="0" bIns="0" rtlCol="0" anchor="t"/>
          <a:lstStyle/>
          <a:p>
            <a:pPr marL="0" indent="0">
              <a:buNone/>
            </a:pPr>
            <a:r>
              <a:rPr lang="en-US" sz="1900" b="1" dirty="0">
                <a:solidFill>
                  <a:schemeClr val="tx2"/>
                </a:solidFill>
              </a:rPr>
              <a:t>Made-up numbers</a:t>
            </a:r>
            <a:endParaRPr lang="en-US" sz="1900" dirty="0"/>
          </a:p>
        </p:txBody>
      </p:sp>
      <p:sp>
        <p:nvSpPr>
          <p:cNvPr id="12" name="Text 10"/>
          <p:cNvSpPr txBox="1"/>
          <p:nvPr/>
        </p:nvSpPr>
        <p:spPr>
          <a:xfrm>
            <a:off x="6035040" y="1810512"/>
            <a:ext cx="5577840" cy="548640"/>
          </a:xfrm>
          <a:prstGeom prst="rect">
            <a:avLst/>
          </a:prstGeom>
          <a:noFill/>
          <a:ln/>
        </p:spPr>
        <p:txBody>
          <a:bodyPr wrap="square" lIns="0" tIns="0" rIns="0" bIns="0" rtlCol="0" anchor="t"/>
          <a:lstStyle/>
          <a:p>
            <a:pPr marL="0" indent="0">
              <a:buNone/>
            </a:pPr>
            <a:r>
              <a:rPr lang="en-US" sz="1500" dirty="0">
                <a:solidFill>
                  <a:schemeClr val="tx1"/>
                </a:solidFill>
              </a:rPr>
              <a:t>Figures that appear in no source.</a:t>
            </a:r>
            <a:endParaRPr lang="en-US" sz="1500" dirty="0"/>
          </a:p>
        </p:txBody>
      </p:sp>
      <p:sp>
        <p:nvSpPr>
          <p:cNvPr id="13" name="fail-1"/>
          <p:cNvSpPr/>
          <p:nvPr/>
        </p:nvSpPr>
        <p:spPr>
          <a:xfrm>
            <a:off x="5303520" y="2578608"/>
            <a:ext cx="548640" cy="548640"/>
          </a:xfrm>
          <a:prstGeom prst="ellipse">
            <a:avLst/>
          </a:prstGeom>
          <a:solidFill>
            <a:schemeClr val="accent3"/>
          </a:solidFill>
          <a:ln/>
        </p:spPr>
      </p:sp>
      <p:sp>
        <p:nvSpPr>
          <p:cNvPr id="14" name="Text 12"/>
          <p:cNvSpPr txBox="1"/>
          <p:nvPr/>
        </p:nvSpPr>
        <p:spPr>
          <a:xfrm>
            <a:off x="5303520" y="257860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a:t>
            </a:r>
            <a:endParaRPr lang="en-US" sz="2000" dirty="0"/>
          </a:p>
        </p:txBody>
      </p:sp>
      <p:sp>
        <p:nvSpPr>
          <p:cNvPr id="15" name="Text 13"/>
          <p:cNvSpPr txBox="1"/>
          <p:nvPr/>
        </p:nvSpPr>
        <p:spPr>
          <a:xfrm>
            <a:off x="6035040" y="2532888"/>
            <a:ext cx="5577840" cy="411480"/>
          </a:xfrm>
          <a:prstGeom prst="rect">
            <a:avLst/>
          </a:prstGeom>
          <a:noFill/>
          <a:ln/>
        </p:spPr>
        <p:txBody>
          <a:bodyPr wrap="square" lIns="0" tIns="0" rIns="0" bIns="0" rtlCol="0" anchor="t"/>
          <a:lstStyle/>
          <a:p>
            <a:pPr marL="0" indent="0">
              <a:buNone/>
            </a:pPr>
            <a:r>
              <a:rPr lang="en-US" sz="1900" b="1" dirty="0">
                <a:solidFill>
                  <a:schemeClr val="tx2"/>
                </a:solidFill>
              </a:rPr>
              <a:t>Wrong time</a:t>
            </a:r>
            <a:endParaRPr lang="en-US" sz="1900" dirty="0"/>
          </a:p>
        </p:txBody>
      </p:sp>
      <p:sp>
        <p:nvSpPr>
          <p:cNvPr id="16" name="Text 14"/>
          <p:cNvSpPr txBox="1"/>
          <p:nvPr/>
        </p:nvSpPr>
        <p:spPr>
          <a:xfrm>
            <a:off x="6035040" y="2971800"/>
            <a:ext cx="5577840" cy="548640"/>
          </a:xfrm>
          <a:prstGeom prst="rect">
            <a:avLst/>
          </a:prstGeom>
          <a:noFill/>
          <a:ln/>
        </p:spPr>
        <p:txBody>
          <a:bodyPr wrap="square" lIns="0" tIns="0" rIns="0" bIns="0" rtlCol="0" anchor="t"/>
          <a:lstStyle/>
          <a:p>
            <a:pPr marL="0" indent="0">
              <a:buNone/>
            </a:pPr>
            <a:r>
              <a:rPr lang="en-US" sz="1500" dirty="0">
                <a:solidFill>
                  <a:schemeClr val="tx1"/>
                </a:solidFill>
              </a:rPr>
              <a:t>Old data, or data not yet public on the asked date.</a:t>
            </a:r>
            <a:endParaRPr lang="en-US" sz="1500" dirty="0"/>
          </a:p>
        </p:txBody>
      </p:sp>
      <p:sp>
        <p:nvSpPr>
          <p:cNvPr id="17" name="fail-2"/>
          <p:cNvSpPr/>
          <p:nvPr/>
        </p:nvSpPr>
        <p:spPr>
          <a:xfrm>
            <a:off x="5303520" y="3739896"/>
            <a:ext cx="548640" cy="548640"/>
          </a:xfrm>
          <a:prstGeom prst="ellipse">
            <a:avLst/>
          </a:prstGeom>
          <a:solidFill>
            <a:schemeClr val="accent3"/>
          </a:solidFill>
          <a:ln/>
        </p:spPr>
      </p:sp>
      <p:sp>
        <p:nvSpPr>
          <p:cNvPr id="18" name="Text 16"/>
          <p:cNvSpPr txBox="1"/>
          <p:nvPr/>
        </p:nvSpPr>
        <p:spPr>
          <a:xfrm>
            <a:off x="5303520" y="3739896"/>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a:t>
            </a:r>
            <a:endParaRPr lang="en-US" sz="2000" dirty="0"/>
          </a:p>
        </p:txBody>
      </p:sp>
      <p:sp>
        <p:nvSpPr>
          <p:cNvPr id="19" name="Text 17"/>
          <p:cNvSpPr txBox="1"/>
          <p:nvPr/>
        </p:nvSpPr>
        <p:spPr>
          <a:xfrm>
            <a:off x="6035040" y="3694176"/>
            <a:ext cx="5577840" cy="411480"/>
          </a:xfrm>
          <a:prstGeom prst="rect">
            <a:avLst/>
          </a:prstGeom>
          <a:noFill/>
          <a:ln/>
        </p:spPr>
        <p:txBody>
          <a:bodyPr wrap="square" lIns="0" tIns="0" rIns="0" bIns="0" rtlCol="0" anchor="t"/>
          <a:lstStyle/>
          <a:p>
            <a:pPr marL="0" indent="0">
              <a:buNone/>
            </a:pPr>
            <a:r>
              <a:rPr lang="en-US" sz="1900" b="1" dirty="0">
                <a:solidFill>
                  <a:schemeClr val="tx2"/>
                </a:solidFill>
              </a:rPr>
              <a:t>Expired knowledge</a:t>
            </a:r>
            <a:endParaRPr lang="en-US" sz="1900" dirty="0"/>
          </a:p>
        </p:txBody>
      </p:sp>
      <p:sp>
        <p:nvSpPr>
          <p:cNvPr id="20" name="Text 18"/>
          <p:cNvSpPr txBox="1"/>
          <p:nvPr/>
        </p:nvSpPr>
        <p:spPr>
          <a:xfrm>
            <a:off x="6035040" y="4133088"/>
            <a:ext cx="5577840" cy="548640"/>
          </a:xfrm>
          <a:prstGeom prst="rect">
            <a:avLst/>
          </a:prstGeom>
          <a:noFill/>
          <a:ln/>
        </p:spPr>
        <p:txBody>
          <a:bodyPr wrap="square" lIns="0" tIns="0" rIns="0" bIns="0" rtlCol="0" anchor="t"/>
          <a:lstStyle/>
          <a:p>
            <a:pPr marL="0" indent="0">
              <a:buNone/>
            </a:pPr>
            <a:r>
              <a:rPr lang="en-US" sz="1500" dirty="0">
                <a:solidFill>
                  <a:schemeClr val="tx1"/>
                </a:solidFill>
              </a:rPr>
              <a:t>“MACD crossing zero means buy” worked in one era, failed in another.</a:t>
            </a:r>
            <a:endParaRPr lang="en-US" sz="1500" dirty="0"/>
          </a:p>
        </p:txBody>
      </p:sp>
      <p:sp>
        <p:nvSpPr>
          <p:cNvPr id="21" name="fail-3"/>
          <p:cNvSpPr/>
          <p:nvPr/>
        </p:nvSpPr>
        <p:spPr>
          <a:xfrm>
            <a:off x="5303520" y="4901184"/>
            <a:ext cx="548640" cy="548640"/>
          </a:xfrm>
          <a:prstGeom prst="ellipse">
            <a:avLst/>
          </a:prstGeom>
          <a:solidFill>
            <a:schemeClr val="accent3"/>
          </a:solidFill>
          <a:ln/>
        </p:spPr>
      </p:sp>
      <p:sp>
        <p:nvSpPr>
          <p:cNvPr id="22" name="Text 20"/>
          <p:cNvSpPr txBox="1"/>
          <p:nvPr/>
        </p:nvSpPr>
        <p:spPr>
          <a:xfrm>
            <a:off x="5303520" y="4901184"/>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a:t>
            </a:r>
            <a:endParaRPr lang="en-US" sz="2000" dirty="0"/>
          </a:p>
        </p:txBody>
      </p:sp>
      <p:sp>
        <p:nvSpPr>
          <p:cNvPr id="23" name="Text 21"/>
          <p:cNvSpPr txBox="1"/>
          <p:nvPr/>
        </p:nvSpPr>
        <p:spPr>
          <a:xfrm>
            <a:off x="6035040" y="4855464"/>
            <a:ext cx="5577840" cy="411480"/>
          </a:xfrm>
          <a:prstGeom prst="rect">
            <a:avLst/>
          </a:prstGeom>
          <a:noFill/>
          <a:ln/>
        </p:spPr>
        <p:txBody>
          <a:bodyPr wrap="square" lIns="0" tIns="0" rIns="0" bIns="0" rtlCol="0" anchor="t"/>
          <a:lstStyle/>
          <a:p>
            <a:pPr marL="0" indent="0">
              <a:buNone/>
            </a:pPr>
            <a:r>
              <a:rPr lang="en-US" sz="1900" b="1" dirty="0">
                <a:solidFill>
                  <a:schemeClr val="tx2"/>
                </a:solidFill>
              </a:rPr>
              <a:t>Bias</a:t>
            </a:r>
            <a:endParaRPr lang="en-US" sz="1900" dirty="0"/>
          </a:p>
        </p:txBody>
      </p:sp>
      <p:sp>
        <p:nvSpPr>
          <p:cNvPr id="24" name="Text 22"/>
          <p:cNvSpPr txBox="1"/>
          <p:nvPr/>
        </p:nvSpPr>
        <p:spPr>
          <a:xfrm>
            <a:off x="6035040" y="5294376"/>
            <a:ext cx="5577840" cy="548640"/>
          </a:xfrm>
          <a:prstGeom prst="rect">
            <a:avLst/>
          </a:prstGeom>
          <a:noFill/>
          <a:ln/>
        </p:spPr>
        <p:txBody>
          <a:bodyPr wrap="square" lIns="0" tIns="0" rIns="0" bIns="0" rtlCol="0" anchor="t"/>
          <a:lstStyle/>
          <a:p>
            <a:pPr marL="0" indent="0">
              <a:buNone/>
            </a:pPr>
            <a:r>
              <a:rPr lang="en-US" sz="1500" dirty="0">
                <a:solidFill>
                  <a:schemeClr val="tx1"/>
                </a:solidFill>
              </a:rPr>
              <a:t>Agrees with the user's framing; repeats popular opinions as facts.</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Six question types, each answered differently</a:t>
            </a:r>
            <a:endParaRPr lang="en-US" sz="3200" dirty="0"/>
          </a:p>
        </p:txBody>
      </p:sp>
      <p:sp>
        <p:nvSpPr>
          <p:cNvPr id="3" name="qtype-0"/>
          <p:cNvSpPr/>
          <p:nvPr/>
        </p:nvSpPr>
        <p:spPr>
          <a:xfrm>
            <a:off x="548640" y="1325880"/>
            <a:ext cx="3566160" cy="2103120"/>
          </a:xfrm>
          <a:prstGeom prst="roundRect">
            <a:avLst>
              <a:gd name="adj" fmla="val 5217"/>
            </a:avLst>
          </a:prstGeom>
          <a:solidFill>
            <a:schemeClr val="bg2"/>
          </a:solidFill>
          <a:ln/>
        </p:spPr>
      </p:sp>
      <p:sp>
        <p:nvSpPr>
          <p:cNvPr id="4" name="qtype-num-0"/>
          <p:cNvSpPr/>
          <p:nvPr/>
        </p:nvSpPr>
        <p:spPr>
          <a:xfrm>
            <a:off x="777240" y="1527048"/>
            <a:ext cx="502920" cy="502920"/>
          </a:xfrm>
          <a:prstGeom prst="ellipse">
            <a:avLst/>
          </a:prstGeom>
          <a:solidFill>
            <a:schemeClr val="accent2"/>
          </a:solidFill>
          <a:ln/>
        </p:spPr>
      </p:sp>
      <p:sp>
        <p:nvSpPr>
          <p:cNvPr id="5" name="Text 3"/>
          <p:cNvSpPr txBox="1"/>
          <p:nvPr/>
        </p:nvSpPr>
        <p:spPr>
          <a:xfrm>
            <a:off x="777240" y="152704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417320" y="1527048"/>
            <a:ext cx="2560320" cy="502920"/>
          </a:xfrm>
          <a:prstGeom prst="rect">
            <a:avLst/>
          </a:prstGeom>
          <a:noFill/>
          <a:ln/>
        </p:spPr>
        <p:txBody>
          <a:bodyPr wrap="square" lIns="0" tIns="0" rIns="0" bIns="0" rtlCol="0" anchor="ctr"/>
          <a:lstStyle/>
          <a:p>
            <a:pPr marL="0" indent="0">
              <a:buNone/>
            </a:pPr>
            <a:r>
              <a:rPr lang="en-US" sz="1700" b="1" dirty="0">
                <a:solidFill>
                  <a:schemeClr val="tx2"/>
                </a:solidFill>
              </a:rPr>
              <a:t>Fact lookup</a:t>
            </a:r>
            <a:endParaRPr lang="en-US" sz="1700" dirty="0"/>
          </a:p>
        </p:txBody>
      </p:sp>
      <p:sp>
        <p:nvSpPr>
          <p:cNvPr id="7" name="Text 5"/>
          <p:cNvSpPr txBox="1"/>
          <p:nvPr/>
        </p:nvSpPr>
        <p:spPr>
          <a:xfrm>
            <a:off x="777240" y="2148840"/>
            <a:ext cx="3154680" cy="640080"/>
          </a:xfrm>
          <a:prstGeom prst="rect">
            <a:avLst/>
          </a:prstGeom>
          <a:noFill/>
          <a:ln/>
        </p:spPr>
        <p:txBody>
          <a:bodyPr wrap="square" lIns="0" tIns="0" rIns="0" bIns="0" rtlCol="0" anchor="t"/>
          <a:lstStyle/>
          <a:p>
            <a:pPr marL="0" indent="0">
              <a:buNone/>
            </a:pPr>
            <a:r>
              <a:rPr lang="en-US" sz="1400" i="1" dirty="0">
                <a:solidFill>
                  <a:schemeClr val="tx1"/>
                </a:solidFill>
              </a:rPr>
              <a:t>“What was Toyota's revenue last fiscal year?”</a:t>
            </a:r>
            <a:endParaRPr lang="en-US" sz="1400" dirty="0"/>
          </a:p>
        </p:txBody>
      </p:sp>
      <p:sp>
        <p:nvSpPr>
          <p:cNvPr id="8" name="Text 6"/>
          <p:cNvSpPr txBox="1"/>
          <p:nvPr/>
        </p:nvSpPr>
        <p:spPr>
          <a:xfrm>
            <a:off x="777240" y="2788920"/>
            <a:ext cx="3154680" cy="548640"/>
          </a:xfrm>
          <a:prstGeom prst="rect">
            <a:avLst/>
          </a:prstGeom>
          <a:noFill/>
          <a:ln/>
        </p:spPr>
        <p:txBody>
          <a:bodyPr wrap="square" lIns="0" tIns="0" rIns="0" bIns="0" rtlCol="0" anchor="t"/>
          <a:lstStyle/>
          <a:p>
            <a:pPr marL="0" indent="0">
              <a:buNone/>
            </a:pPr>
            <a:r>
              <a:rPr lang="en-US" sz="1400" b="1" dirty="0">
                <a:solidFill>
                  <a:schemeClr val="accent2"/>
                </a:solidFill>
              </a:rPr>
              <a:t>Numbers from the database only</a:t>
            </a:r>
            <a:endParaRPr lang="en-US" sz="1400" dirty="0"/>
          </a:p>
        </p:txBody>
      </p:sp>
      <p:sp>
        <p:nvSpPr>
          <p:cNvPr id="9" name="qtype-1"/>
          <p:cNvSpPr/>
          <p:nvPr/>
        </p:nvSpPr>
        <p:spPr>
          <a:xfrm>
            <a:off x="4297680" y="1325880"/>
            <a:ext cx="3566160" cy="2103120"/>
          </a:xfrm>
          <a:prstGeom prst="roundRect">
            <a:avLst>
              <a:gd name="adj" fmla="val 5217"/>
            </a:avLst>
          </a:prstGeom>
          <a:solidFill>
            <a:schemeClr val="bg2"/>
          </a:solidFill>
          <a:ln/>
        </p:spPr>
      </p:sp>
      <p:sp>
        <p:nvSpPr>
          <p:cNvPr id="10" name="qtype-num-1"/>
          <p:cNvSpPr/>
          <p:nvPr/>
        </p:nvSpPr>
        <p:spPr>
          <a:xfrm>
            <a:off x="4526280" y="1527048"/>
            <a:ext cx="502920" cy="502920"/>
          </a:xfrm>
          <a:prstGeom prst="ellipse">
            <a:avLst/>
          </a:prstGeom>
          <a:solidFill>
            <a:schemeClr val="accent2"/>
          </a:solidFill>
          <a:ln/>
        </p:spPr>
      </p:sp>
      <p:sp>
        <p:nvSpPr>
          <p:cNvPr id="11" name="Text 9"/>
          <p:cNvSpPr txBox="1"/>
          <p:nvPr/>
        </p:nvSpPr>
        <p:spPr>
          <a:xfrm>
            <a:off x="4526280" y="152704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Text 10"/>
          <p:cNvSpPr txBox="1"/>
          <p:nvPr/>
        </p:nvSpPr>
        <p:spPr>
          <a:xfrm>
            <a:off x="5166360" y="1527048"/>
            <a:ext cx="2560320" cy="502920"/>
          </a:xfrm>
          <a:prstGeom prst="rect">
            <a:avLst/>
          </a:prstGeom>
          <a:noFill/>
          <a:ln/>
        </p:spPr>
        <p:txBody>
          <a:bodyPr wrap="square" lIns="0" tIns="0" rIns="0" bIns="0" rtlCol="0" anchor="ctr"/>
          <a:lstStyle/>
          <a:p>
            <a:pPr marL="0" indent="0">
              <a:buNone/>
            </a:pPr>
            <a:r>
              <a:rPr lang="en-US" sz="1700" b="1" dirty="0">
                <a:solidFill>
                  <a:schemeClr val="tx2"/>
                </a:solidFill>
              </a:rPr>
              <a:t>Screening</a:t>
            </a:r>
            <a:endParaRPr lang="en-US" sz="1700" dirty="0"/>
          </a:p>
        </p:txBody>
      </p:sp>
      <p:sp>
        <p:nvSpPr>
          <p:cNvPr id="13" name="Text 11"/>
          <p:cNvSpPr txBox="1"/>
          <p:nvPr/>
        </p:nvSpPr>
        <p:spPr>
          <a:xfrm>
            <a:off x="4526280" y="2148840"/>
            <a:ext cx="3154680" cy="640080"/>
          </a:xfrm>
          <a:prstGeom prst="rect">
            <a:avLst/>
          </a:prstGeom>
          <a:noFill/>
          <a:ln/>
        </p:spPr>
        <p:txBody>
          <a:bodyPr wrap="square" lIns="0" tIns="0" rIns="0" bIns="0" rtlCol="0" anchor="t"/>
          <a:lstStyle/>
          <a:p>
            <a:pPr marL="0" indent="0">
              <a:buNone/>
            </a:pPr>
            <a:r>
              <a:rPr lang="en-US" sz="1400" i="1" dirty="0">
                <a:solidFill>
                  <a:schemeClr val="tx1"/>
                </a:solidFill>
              </a:rPr>
              <a:t>“Stocks with daily volatility &gt; 5% and free float &gt; 20%”</a:t>
            </a:r>
            <a:endParaRPr lang="en-US" sz="1400" dirty="0"/>
          </a:p>
        </p:txBody>
      </p:sp>
      <p:sp>
        <p:nvSpPr>
          <p:cNvPr id="14" name="Text 12"/>
          <p:cNvSpPr txBox="1"/>
          <p:nvPr/>
        </p:nvSpPr>
        <p:spPr>
          <a:xfrm>
            <a:off x="4526280" y="2788920"/>
            <a:ext cx="3154680" cy="548640"/>
          </a:xfrm>
          <a:prstGeom prst="rect">
            <a:avLst/>
          </a:prstGeom>
          <a:noFill/>
          <a:ln/>
        </p:spPr>
        <p:txBody>
          <a:bodyPr wrap="square" lIns="0" tIns="0" rIns="0" bIns="0" rtlCol="0" anchor="t"/>
          <a:lstStyle/>
          <a:p>
            <a:pPr marL="0" indent="0">
              <a:buNone/>
            </a:pPr>
            <a:r>
              <a:rPr lang="en-US" sz="1400" b="1" dirty="0">
                <a:solidFill>
                  <a:schemeClr val="accent2"/>
                </a:solidFill>
              </a:rPr>
              <a:t>Query, plus questions back if unclear</a:t>
            </a:r>
            <a:endParaRPr lang="en-US" sz="1400" dirty="0"/>
          </a:p>
        </p:txBody>
      </p:sp>
      <p:sp>
        <p:nvSpPr>
          <p:cNvPr id="15" name="qtype-2"/>
          <p:cNvSpPr/>
          <p:nvPr/>
        </p:nvSpPr>
        <p:spPr>
          <a:xfrm>
            <a:off x="8046720" y="1325880"/>
            <a:ext cx="3566160" cy="2103120"/>
          </a:xfrm>
          <a:prstGeom prst="roundRect">
            <a:avLst>
              <a:gd name="adj" fmla="val 5217"/>
            </a:avLst>
          </a:prstGeom>
          <a:solidFill>
            <a:schemeClr val="bg2"/>
          </a:solidFill>
          <a:ln/>
        </p:spPr>
      </p:sp>
      <p:sp>
        <p:nvSpPr>
          <p:cNvPr id="16" name="qtype-num-2"/>
          <p:cNvSpPr/>
          <p:nvPr/>
        </p:nvSpPr>
        <p:spPr>
          <a:xfrm>
            <a:off x="8275320" y="1527048"/>
            <a:ext cx="502920" cy="502920"/>
          </a:xfrm>
          <a:prstGeom prst="ellipse">
            <a:avLst/>
          </a:prstGeom>
          <a:solidFill>
            <a:schemeClr val="accent2"/>
          </a:solidFill>
          <a:ln/>
        </p:spPr>
      </p:sp>
      <p:sp>
        <p:nvSpPr>
          <p:cNvPr id="17" name="Text 15"/>
          <p:cNvSpPr txBox="1"/>
          <p:nvPr/>
        </p:nvSpPr>
        <p:spPr>
          <a:xfrm>
            <a:off x="8275320" y="152704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6"/>
          <p:cNvSpPr txBox="1"/>
          <p:nvPr/>
        </p:nvSpPr>
        <p:spPr>
          <a:xfrm>
            <a:off x="8915400" y="1527048"/>
            <a:ext cx="2560320" cy="502920"/>
          </a:xfrm>
          <a:prstGeom prst="rect">
            <a:avLst/>
          </a:prstGeom>
          <a:noFill/>
          <a:ln/>
        </p:spPr>
        <p:txBody>
          <a:bodyPr wrap="square" lIns="0" tIns="0" rIns="0" bIns="0" rtlCol="0" anchor="ctr"/>
          <a:lstStyle/>
          <a:p>
            <a:pPr marL="0" indent="0">
              <a:buNone/>
            </a:pPr>
            <a:r>
              <a:rPr lang="en-US" sz="1700" b="1" dirty="0">
                <a:solidFill>
                  <a:schemeClr val="tx2"/>
                </a:solidFill>
              </a:rPr>
              <a:t>Definition / mechanism</a:t>
            </a:r>
            <a:endParaRPr lang="en-US" sz="1700" dirty="0"/>
          </a:p>
        </p:txBody>
      </p:sp>
      <p:sp>
        <p:nvSpPr>
          <p:cNvPr id="19" name="Text 17"/>
          <p:cNvSpPr txBox="1"/>
          <p:nvPr/>
        </p:nvSpPr>
        <p:spPr>
          <a:xfrm>
            <a:off x="8275320" y="2148840"/>
            <a:ext cx="3154680" cy="640080"/>
          </a:xfrm>
          <a:prstGeom prst="rect">
            <a:avLst/>
          </a:prstGeom>
          <a:noFill/>
          <a:ln/>
        </p:spPr>
        <p:txBody>
          <a:bodyPr wrap="square" lIns="0" tIns="0" rIns="0" bIns="0" rtlCol="0" anchor="t"/>
          <a:lstStyle/>
          <a:p>
            <a:pPr marL="0" indent="0">
              <a:buNone/>
            </a:pPr>
            <a:r>
              <a:rPr lang="en-US" sz="1400" i="1" dirty="0">
                <a:solidFill>
                  <a:schemeClr val="tx1"/>
                </a:solidFill>
              </a:rPr>
              <a:t>“Why do bond prices fall when rates rise?”</a:t>
            </a:r>
            <a:endParaRPr lang="en-US" sz="1400" dirty="0"/>
          </a:p>
        </p:txBody>
      </p:sp>
      <p:sp>
        <p:nvSpPr>
          <p:cNvPr id="20" name="Text 18"/>
          <p:cNvSpPr txBox="1"/>
          <p:nvPr/>
        </p:nvSpPr>
        <p:spPr>
          <a:xfrm>
            <a:off x="8275320" y="2788920"/>
            <a:ext cx="3154680" cy="548640"/>
          </a:xfrm>
          <a:prstGeom prst="rect">
            <a:avLst/>
          </a:prstGeom>
          <a:noFill/>
          <a:ln/>
        </p:spPr>
        <p:txBody>
          <a:bodyPr wrap="square" lIns="0" tIns="0" rIns="0" bIns="0" rtlCol="0" anchor="t"/>
          <a:lstStyle/>
          <a:p>
            <a:pPr marL="0" indent="0">
              <a:buNone/>
            </a:pPr>
            <a:r>
              <a:rPr lang="en-US" sz="1400" b="1" dirty="0">
                <a:solidFill>
                  <a:schemeClr val="accent2"/>
                </a:solidFill>
              </a:rPr>
              <a:t>Explanation with sources</a:t>
            </a:r>
            <a:endParaRPr lang="en-US" sz="1400" dirty="0"/>
          </a:p>
        </p:txBody>
      </p:sp>
      <p:sp>
        <p:nvSpPr>
          <p:cNvPr id="21" name="qtype-3"/>
          <p:cNvSpPr/>
          <p:nvPr/>
        </p:nvSpPr>
        <p:spPr>
          <a:xfrm>
            <a:off x="548640" y="3611880"/>
            <a:ext cx="3566160" cy="2103120"/>
          </a:xfrm>
          <a:prstGeom prst="roundRect">
            <a:avLst>
              <a:gd name="adj" fmla="val 5217"/>
            </a:avLst>
          </a:prstGeom>
          <a:solidFill>
            <a:schemeClr val="bg2"/>
          </a:solidFill>
          <a:ln/>
        </p:spPr>
      </p:sp>
      <p:sp>
        <p:nvSpPr>
          <p:cNvPr id="22" name="qtype-num-3"/>
          <p:cNvSpPr/>
          <p:nvPr/>
        </p:nvSpPr>
        <p:spPr>
          <a:xfrm>
            <a:off x="777240" y="3813048"/>
            <a:ext cx="502920" cy="502920"/>
          </a:xfrm>
          <a:prstGeom prst="ellipse">
            <a:avLst/>
          </a:prstGeom>
          <a:solidFill>
            <a:schemeClr val="accent1"/>
          </a:solidFill>
          <a:ln/>
        </p:spPr>
      </p:sp>
      <p:sp>
        <p:nvSpPr>
          <p:cNvPr id="23" name="Text 21"/>
          <p:cNvSpPr txBox="1"/>
          <p:nvPr/>
        </p:nvSpPr>
        <p:spPr>
          <a:xfrm>
            <a:off x="777240" y="381304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4" name="Text 22"/>
          <p:cNvSpPr txBox="1"/>
          <p:nvPr/>
        </p:nvSpPr>
        <p:spPr>
          <a:xfrm>
            <a:off x="1417320" y="3813048"/>
            <a:ext cx="2560320" cy="502920"/>
          </a:xfrm>
          <a:prstGeom prst="rect">
            <a:avLst/>
          </a:prstGeom>
          <a:noFill/>
          <a:ln/>
        </p:spPr>
        <p:txBody>
          <a:bodyPr wrap="square" lIns="0" tIns="0" rIns="0" bIns="0" rtlCol="0" anchor="ctr"/>
          <a:lstStyle/>
          <a:p>
            <a:pPr marL="0" indent="0">
              <a:buNone/>
            </a:pPr>
            <a:r>
              <a:rPr lang="en-US" sz="1700" b="1" dirty="0">
                <a:solidFill>
                  <a:schemeClr val="tx2"/>
                </a:solidFill>
              </a:rPr>
              <a:t>Relationship / strategy</a:t>
            </a:r>
            <a:endParaRPr lang="en-US" sz="1700" dirty="0"/>
          </a:p>
        </p:txBody>
      </p:sp>
      <p:sp>
        <p:nvSpPr>
          <p:cNvPr id="25" name="Text 23"/>
          <p:cNvSpPr txBox="1"/>
          <p:nvPr/>
        </p:nvSpPr>
        <p:spPr>
          <a:xfrm>
            <a:off x="777240" y="4434840"/>
            <a:ext cx="3154680" cy="640080"/>
          </a:xfrm>
          <a:prstGeom prst="rect">
            <a:avLst/>
          </a:prstGeom>
          <a:noFill/>
          <a:ln/>
        </p:spPr>
        <p:txBody>
          <a:bodyPr wrap="square" lIns="0" tIns="0" rIns="0" bIns="0" rtlCol="0" anchor="t"/>
          <a:lstStyle/>
          <a:p>
            <a:pPr marL="0" indent="0">
              <a:buNone/>
            </a:pPr>
            <a:r>
              <a:rPr lang="en-US" sz="1400" i="1" dirty="0">
                <a:solidFill>
                  <a:schemeClr val="tx1"/>
                </a:solidFill>
              </a:rPr>
              <a:t>“Does breakout trading still work?”</a:t>
            </a:r>
            <a:endParaRPr lang="en-US" sz="1400" dirty="0"/>
          </a:p>
        </p:txBody>
      </p:sp>
      <p:sp>
        <p:nvSpPr>
          <p:cNvPr id="26" name="Text 24"/>
          <p:cNvSpPr txBox="1"/>
          <p:nvPr/>
        </p:nvSpPr>
        <p:spPr>
          <a:xfrm>
            <a:off x="777240" y="5074920"/>
            <a:ext cx="3154680" cy="548640"/>
          </a:xfrm>
          <a:prstGeom prst="rect">
            <a:avLst/>
          </a:prstGeom>
          <a:noFill/>
          <a:ln/>
        </p:spPr>
        <p:txBody>
          <a:bodyPr wrap="square" lIns="0" tIns="0" rIns="0" bIns="0" rtlCol="0" anchor="t"/>
          <a:lstStyle/>
          <a:p>
            <a:pPr marL="0" indent="0">
              <a:buNone/>
            </a:pPr>
            <a:r>
              <a:rPr lang="en-US" sz="1400" b="1" dirty="0">
                <a:solidFill>
                  <a:schemeClr val="accent1"/>
                </a:solidFill>
              </a:rPr>
              <a:t>Evidence: when and under which conditions it held</a:t>
            </a:r>
            <a:endParaRPr lang="en-US" sz="1400" dirty="0"/>
          </a:p>
        </p:txBody>
      </p:sp>
      <p:sp>
        <p:nvSpPr>
          <p:cNvPr id="27" name="qtype-4"/>
          <p:cNvSpPr/>
          <p:nvPr/>
        </p:nvSpPr>
        <p:spPr>
          <a:xfrm>
            <a:off x="4297680" y="3611880"/>
            <a:ext cx="3566160" cy="2103120"/>
          </a:xfrm>
          <a:prstGeom prst="roundRect">
            <a:avLst>
              <a:gd name="adj" fmla="val 5217"/>
            </a:avLst>
          </a:prstGeom>
          <a:solidFill>
            <a:schemeClr val="bg2"/>
          </a:solidFill>
          <a:ln/>
        </p:spPr>
      </p:sp>
      <p:sp>
        <p:nvSpPr>
          <p:cNvPr id="28" name="qtype-num-4"/>
          <p:cNvSpPr/>
          <p:nvPr/>
        </p:nvSpPr>
        <p:spPr>
          <a:xfrm>
            <a:off x="4526280" y="3813048"/>
            <a:ext cx="502920" cy="502920"/>
          </a:xfrm>
          <a:prstGeom prst="ellipse">
            <a:avLst/>
          </a:prstGeom>
          <a:solidFill>
            <a:schemeClr val="accent3"/>
          </a:solidFill>
          <a:ln/>
        </p:spPr>
      </p:sp>
      <p:sp>
        <p:nvSpPr>
          <p:cNvPr id="29" name="Text 27"/>
          <p:cNvSpPr txBox="1"/>
          <p:nvPr/>
        </p:nvSpPr>
        <p:spPr>
          <a:xfrm>
            <a:off x="4526280" y="381304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0" name="Text 28"/>
          <p:cNvSpPr txBox="1"/>
          <p:nvPr/>
        </p:nvSpPr>
        <p:spPr>
          <a:xfrm>
            <a:off x="5166360" y="3813048"/>
            <a:ext cx="2560320" cy="502920"/>
          </a:xfrm>
          <a:prstGeom prst="rect">
            <a:avLst/>
          </a:prstGeom>
          <a:noFill/>
          <a:ln/>
        </p:spPr>
        <p:txBody>
          <a:bodyPr wrap="square" lIns="0" tIns="0" rIns="0" bIns="0" rtlCol="0" anchor="ctr"/>
          <a:lstStyle/>
          <a:p>
            <a:pPr marL="0" indent="0">
              <a:buNone/>
            </a:pPr>
            <a:r>
              <a:rPr lang="en-US" sz="1700" b="1" dirty="0">
                <a:solidFill>
                  <a:schemeClr val="tx2"/>
                </a:solidFill>
              </a:rPr>
              <a:t>Opinion / valuation</a:t>
            </a:r>
            <a:endParaRPr lang="en-US" sz="1700" dirty="0"/>
          </a:p>
        </p:txBody>
      </p:sp>
      <p:sp>
        <p:nvSpPr>
          <p:cNvPr id="31" name="Text 29"/>
          <p:cNvSpPr txBox="1"/>
          <p:nvPr/>
        </p:nvSpPr>
        <p:spPr>
          <a:xfrm>
            <a:off x="4526280" y="4434840"/>
            <a:ext cx="3154680" cy="640080"/>
          </a:xfrm>
          <a:prstGeom prst="rect">
            <a:avLst/>
          </a:prstGeom>
          <a:noFill/>
          <a:ln/>
        </p:spPr>
        <p:txBody>
          <a:bodyPr wrap="square" lIns="0" tIns="0" rIns="0" bIns="0" rtlCol="0" anchor="t"/>
          <a:lstStyle/>
          <a:p>
            <a:pPr marL="0" indent="0">
              <a:buNone/>
            </a:pPr>
            <a:r>
              <a:rPr lang="en-US" sz="1400" i="1" dirty="0">
                <a:solidFill>
                  <a:schemeClr val="tx1"/>
                </a:solidFill>
              </a:rPr>
              <a:t>“Is this stock too expensive?”</a:t>
            </a:r>
            <a:endParaRPr lang="en-US" sz="1400" dirty="0"/>
          </a:p>
        </p:txBody>
      </p:sp>
      <p:sp>
        <p:nvSpPr>
          <p:cNvPr id="32" name="Text 30"/>
          <p:cNvSpPr txBox="1"/>
          <p:nvPr/>
        </p:nvSpPr>
        <p:spPr>
          <a:xfrm>
            <a:off x="4526280" y="5074920"/>
            <a:ext cx="3154680" cy="548640"/>
          </a:xfrm>
          <a:prstGeom prst="rect">
            <a:avLst/>
          </a:prstGeom>
          <a:noFill/>
          <a:ln/>
        </p:spPr>
        <p:txBody>
          <a:bodyPr wrap="square" lIns="0" tIns="0" rIns="0" bIns="0" rtlCol="0" anchor="t"/>
          <a:lstStyle/>
          <a:p>
            <a:pPr marL="0" indent="0">
              <a:buNone/>
            </a:pPr>
            <a:r>
              <a:rPr lang="en-US" sz="1400" b="1" dirty="0">
                <a:solidFill>
                  <a:schemeClr val="accent3"/>
                </a:solidFill>
              </a:rPr>
              <a:t>Who said it and when; both sides</a:t>
            </a:r>
            <a:endParaRPr lang="en-US" sz="1400" dirty="0"/>
          </a:p>
        </p:txBody>
      </p:sp>
      <p:sp>
        <p:nvSpPr>
          <p:cNvPr id="33" name="qtype-5"/>
          <p:cNvSpPr/>
          <p:nvPr/>
        </p:nvSpPr>
        <p:spPr>
          <a:xfrm>
            <a:off x="8046720" y="3611880"/>
            <a:ext cx="3566160" cy="2103120"/>
          </a:xfrm>
          <a:prstGeom prst="roundRect">
            <a:avLst>
              <a:gd name="adj" fmla="val 5217"/>
            </a:avLst>
          </a:prstGeom>
          <a:solidFill>
            <a:schemeClr val="bg2"/>
          </a:solidFill>
          <a:ln/>
        </p:spPr>
      </p:sp>
      <p:sp>
        <p:nvSpPr>
          <p:cNvPr id="34" name="qtype-num-5"/>
          <p:cNvSpPr/>
          <p:nvPr/>
        </p:nvSpPr>
        <p:spPr>
          <a:xfrm>
            <a:off x="8275320" y="3813048"/>
            <a:ext cx="502920" cy="502920"/>
          </a:xfrm>
          <a:prstGeom prst="ellipse">
            <a:avLst/>
          </a:prstGeom>
          <a:solidFill>
            <a:schemeClr val="accent4"/>
          </a:solidFill>
          <a:ln/>
        </p:spPr>
      </p:sp>
      <p:sp>
        <p:nvSpPr>
          <p:cNvPr id="35" name="Text 33"/>
          <p:cNvSpPr txBox="1"/>
          <p:nvPr/>
        </p:nvSpPr>
        <p:spPr>
          <a:xfrm>
            <a:off x="8275320" y="381304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6" name="Text 34"/>
          <p:cNvSpPr txBox="1"/>
          <p:nvPr/>
        </p:nvSpPr>
        <p:spPr>
          <a:xfrm>
            <a:off x="8915400" y="3813048"/>
            <a:ext cx="2560320" cy="502920"/>
          </a:xfrm>
          <a:prstGeom prst="rect">
            <a:avLst/>
          </a:prstGeom>
          <a:noFill/>
          <a:ln/>
        </p:spPr>
        <p:txBody>
          <a:bodyPr wrap="square" lIns="0" tIns="0" rIns="0" bIns="0" rtlCol="0" anchor="ctr"/>
          <a:lstStyle/>
          <a:p>
            <a:pPr marL="0" indent="0">
              <a:buNone/>
            </a:pPr>
            <a:r>
              <a:rPr lang="en-US" sz="1700" b="1" dirty="0">
                <a:solidFill>
                  <a:schemeClr val="tx2"/>
                </a:solidFill>
              </a:rPr>
              <a:t>Personal decision</a:t>
            </a:r>
            <a:endParaRPr lang="en-US" sz="1700" dirty="0"/>
          </a:p>
        </p:txBody>
      </p:sp>
      <p:sp>
        <p:nvSpPr>
          <p:cNvPr id="37" name="Text 35"/>
          <p:cNvSpPr txBox="1"/>
          <p:nvPr/>
        </p:nvSpPr>
        <p:spPr>
          <a:xfrm>
            <a:off x="8275320" y="4434840"/>
            <a:ext cx="3154680" cy="640080"/>
          </a:xfrm>
          <a:prstGeom prst="rect">
            <a:avLst/>
          </a:prstGeom>
          <a:noFill/>
          <a:ln/>
        </p:spPr>
        <p:txBody>
          <a:bodyPr wrap="square" lIns="0" tIns="0" rIns="0" bIns="0" rtlCol="0" anchor="t"/>
          <a:lstStyle/>
          <a:p>
            <a:pPr marL="0" indent="0">
              <a:buNone/>
            </a:pPr>
            <a:r>
              <a:rPr lang="en-US" sz="1400" i="1" dirty="0">
                <a:solidFill>
                  <a:schemeClr val="tx1"/>
                </a:solidFill>
              </a:rPr>
              <a:t>“I have ¥1M. What should I do?”</a:t>
            </a:r>
            <a:endParaRPr lang="en-US" sz="1400" dirty="0"/>
          </a:p>
        </p:txBody>
      </p:sp>
      <p:sp>
        <p:nvSpPr>
          <p:cNvPr id="38" name="Text 36"/>
          <p:cNvSpPr txBox="1"/>
          <p:nvPr/>
        </p:nvSpPr>
        <p:spPr>
          <a:xfrm>
            <a:off x="8275320" y="5074920"/>
            <a:ext cx="3154680" cy="548640"/>
          </a:xfrm>
          <a:prstGeom prst="rect">
            <a:avLst/>
          </a:prstGeom>
          <a:noFill/>
          <a:ln/>
        </p:spPr>
        <p:txBody>
          <a:bodyPr wrap="square" lIns="0" tIns="0" rIns="0" bIns="0" rtlCol="0" anchor="t"/>
          <a:lstStyle/>
          <a:p>
            <a:pPr marL="0" indent="0">
              <a:buNone/>
            </a:pPr>
            <a:r>
              <a:rPr lang="en-US" sz="1400" b="1" dirty="0">
                <a:solidFill>
                  <a:schemeClr val="accent4"/>
                </a:solidFill>
              </a:rPr>
              <a:t>Split into types 1–5; no personal advice</a:t>
            </a:r>
            <a:endParaRPr lang="en-US" sz="1400" dirty="0"/>
          </a:p>
        </p:txBody>
      </p:sp>
      <p:sp>
        <p:nvSpPr>
          <p:cNvPr id="39" name="legend-0"/>
          <p:cNvSpPr/>
          <p:nvPr/>
        </p:nvSpPr>
        <p:spPr>
          <a:xfrm>
            <a:off x="548640" y="5943600"/>
            <a:ext cx="201168" cy="201168"/>
          </a:xfrm>
          <a:prstGeom prst="ellipse">
            <a:avLst/>
          </a:prstGeom>
          <a:solidFill>
            <a:schemeClr val="accent2"/>
          </a:solidFill>
          <a:ln/>
        </p:spPr>
      </p:sp>
      <p:sp>
        <p:nvSpPr>
          <p:cNvPr id="40" name="Text 38"/>
          <p:cNvSpPr txBox="1"/>
          <p:nvPr/>
        </p:nvSpPr>
        <p:spPr>
          <a:xfrm>
            <a:off x="841248" y="5897880"/>
            <a:ext cx="1645920" cy="292608"/>
          </a:xfrm>
          <a:prstGeom prst="rect">
            <a:avLst/>
          </a:prstGeom>
          <a:noFill/>
          <a:ln/>
        </p:spPr>
        <p:txBody>
          <a:bodyPr wrap="square" lIns="0" tIns="0" rIns="0" bIns="0" rtlCol="0" anchor="ctr"/>
          <a:lstStyle/>
          <a:p>
            <a:pPr marL="0" indent="0">
              <a:buNone/>
            </a:pPr>
            <a:r>
              <a:rPr lang="en-US" sz="1200" dirty="0">
                <a:solidFill>
                  <a:schemeClr val="tx1"/>
                </a:solidFill>
              </a:rPr>
              <a:t>Absolute</a:t>
            </a:r>
            <a:endParaRPr lang="en-US" sz="1200" dirty="0"/>
          </a:p>
        </p:txBody>
      </p:sp>
      <p:sp>
        <p:nvSpPr>
          <p:cNvPr id="41" name="legend-1"/>
          <p:cNvSpPr/>
          <p:nvPr/>
        </p:nvSpPr>
        <p:spPr>
          <a:xfrm>
            <a:off x="2560320" y="5943600"/>
            <a:ext cx="201168" cy="201168"/>
          </a:xfrm>
          <a:prstGeom prst="ellipse">
            <a:avLst/>
          </a:prstGeom>
          <a:solidFill>
            <a:schemeClr val="accent1"/>
          </a:solidFill>
          <a:ln/>
        </p:spPr>
      </p:sp>
      <p:sp>
        <p:nvSpPr>
          <p:cNvPr id="42" name="Text 40"/>
          <p:cNvSpPr txBox="1"/>
          <p:nvPr/>
        </p:nvSpPr>
        <p:spPr>
          <a:xfrm>
            <a:off x="2852928" y="5897880"/>
            <a:ext cx="1645920" cy="292608"/>
          </a:xfrm>
          <a:prstGeom prst="rect">
            <a:avLst/>
          </a:prstGeom>
          <a:noFill/>
          <a:ln/>
        </p:spPr>
        <p:txBody>
          <a:bodyPr wrap="square" lIns="0" tIns="0" rIns="0" bIns="0" rtlCol="0" anchor="ctr"/>
          <a:lstStyle/>
          <a:p>
            <a:pPr marL="0" indent="0">
              <a:buNone/>
            </a:pPr>
            <a:r>
              <a:rPr lang="en-US" sz="1200" dirty="0">
                <a:solidFill>
                  <a:schemeClr val="tx1"/>
                </a:solidFill>
              </a:rPr>
              <a:t>Conditional</a:t>
            </a:r>
            <a:endParaRPr lang="en-US" sz="1200" dirty="0"/>
          </a:p>
        </p:txBody>
      </p:sp>
      <p:sp>
        <p:nvSpPr>
          <p:cNvPr id="43" name="legend-2"/>
          <p:cNvSpPr/>
          <p:nvPr/>
        </p:nvSpPr>
        <p:spPr>
          <a:xfrm>
            <a:off x="4572000" y="5943600"/>
            <a:ext cx="201168" cy="201168"/>
          </a:xfrm>
          <a:prstGeom prst="ellipse">
            <a:avLst/>
          </a:prstGeom>
          <a:solidFill>
            <a:schemeClr val="accent3"/>
          </a:solidFill>
          <a:ln/>
        </p:spPr>
      </p:sp>
      <p:sp>
        <p:nvSpPr>
          <p:cNvPr id="44" name="Text 42"/>
          <p:cNvSpPr txBox="1"/>
          <p:nvPr/>
        </p:nvSpPr>
        <p:spPr>
          <a:xfrm>
            <a:off x="4864608" y="5897880"/>
            <a:ext cx="1645920" cy="292608"/>
          </a:xfrm>
          <a:prstGeom prst="rect">
            <a:avLst/>
          </a:prstGeom>
          <a:noFill/>
          <a:ln/>
        </p:spPr>
        <p:txBody>
          <a:bodyPr wrap="square" lIns="0" tIns="0" rIns="0" bIns="0" rtlCol="0" anchor="ctr"/>
          <a:lstStyle/>
          <a:p>
            <a:pPr marL="0" indent="0">
              <a:buNone/>
            </a:pPr>
            <a:r>
              <a:rPr lang="en-US" sz="1200" dirty="0">
                <a:solidFill>
                  <a:schemeClr val="tx1"/>
                </a:solidFill>
              </a:rPr>
              <a:t>Opinion</a:t>
            </a:r>
            <a:endParaRPr lang="en-US" sz="1200" dirty="0"/>
          </a:p>
        </p:txBody>
      </p:sp>
      <p:sp>
        <p:nvSpPr>
          <p:cNvPr id="45" name="legend-3"/>
          <p:cNvSpPr/>
          <p:nvPr/>
        </p:nvSpPr>
        <p:spPr>
          <a:xfrm>
            <a:off x="6583680" y="5943600"/>
            <a:ext cx="201168" cy="201168"/>
          </a:xfrm>
          <a:prstGeom prst="ellipse">
            <a:avLst/>
          </a:prstGeom>
          <a:solidFill>
            <a:schemeClr val="accent4"/>
          </a:solidFill>
          <a:ln/>
        </p:spPr>
      </p:sp>
      <p:sp>
        <p:nvSpPr>
          <p:cNvPr id="46" name="Text 44"/>
          <p:cNvSpPr txBox="1"/>
          <p:nvPr/>
        </p:nvSpPr>
        <p:spPr>
          <a:xfrm>
            <a:off x="6876288" y="5897880"/>
            <a:ext cx="1645920" cy="292608"/>
          </a:xfrm>
          <a:prstGeom prst="rect">
            <a:avLst/>
          </a:prstGeom>
          <a:noFill/>
          <a:ln/>
        </p:spPr>
        <p:txBody>
          <a:bodyPr wrap="square" lIns="0" tIns="0" rIns="0" bIns="0" rtlCol="0" anchor="ctr"/>
          <a:lstStyle/>
          <a:p>
            <a:pPr marL="0" indent="0">
              <a:buNone/>
            </a:pPr>
            <a:r>
              <a:rPr lang="en-US" sz="1200" dirty="0">
                <a:solidFill>
                  <a:schemeClr val="tx1"/>
                </a:solidFill>
              </a:rPr>
              <a:t>Mixed</a:t>
            </a:r>
            <a:endParaRPr lang="en-US" sz="1200" dirty="0"/>
          </a:p>
        </p:txBody>
      </p:sp>
      <p:sp>
        <p:nvSpPr>
          <p:cNvPr id="47"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Three kinds of knowledge, stored and shown differently</a:t>
            </a:r>
            <a:endParaRPr lang="en-US" sz="3200" dirty="0"/>
          </a:p>
        </p:txBody>
      </p:sp>
      <p:sp>
        <p:nvSpPr>
          <p:cNvPr id="3" name="kind-0"/>
          <p:cNvSpPr/>
          <p:nvPr/>
        </p:nvSpPr>
        <p:spPr>
          <a:xfrm>
            <a:off x="548640" y="1325880"/>
            <a:ext cx="3566160" cy="4251960"/>
          </a:xfrm>
          <a:prstGeom prst="roundRect">
            <a:avLst>
              <a:gd name="adj" fmla="val 3077"/>
            </a:avLst>
          </a:prstGeom>
          <a:solidFill>
            <a:schemeClr val="bg2"/>
          </a:solidFill>
          <a:ln/>
        </p:spPr>
      </p:sp>
      <p:sp>
        <p:nvSpPr>
          <p:cNvPr id="4" name="kind-icon-0"/>
          <p:cNvSpPr/>
          <p:nvPr/>
        </p:nvSpPr>
        <p:spPr>
          <a:xfrm>
            <a:off x="822960" y="1554480"/>
            <a:ext cx="640080" cy="640080"/>
          </a:xfrm>
          <a:prstGeom prst="ellipse">
            <a:avLst/>
          </a:prstGeom>
          <a:solidFill>
            <a:schemeClr val="accent2"/>
          </a:solidFill>
          <a:ln/>
        </p:spPr>
      </p:sp>
      <p:sp>
        <p:nvSpPr>
          <p:cNvPr id="5" name="Text 3"/>
          <p:cNvSpPr txBox="1"/>
          <p:nvPr/>
        </p:nvSpPr>
        <p:spPr>
          <a:xfrm>
            <a:off x="822960" y="1554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6" name="Text 4"/>
          <p:cNvSpPr txBox="1"/>
          <p:nvPr/>
        </p:nvSpPr>
        <p:spPr>
          <a:xfrm>
            <a:off x="1600200" y="1600200"/>
            <a:ext cx="2377440" cy="548640"/>
          </a:xfrm>
          <a:prstGeom prst="rect">
            <a:avLst/>
          </a:prstGeom>
          <a:noFill/>
          <a:ln/>
        </p:spPr>
        <p:txBody>
          <a:bodyPr wrap="square" lIns="0" tIns="0" rIns="0" bIns="0" rtlCol="0" anchor="ctr"/>
          <a:lstStyle/>
          <a:p>
            <a:pPr marL="0" indent="0">
              <a:buNone/>
            </a:pPr>
            <a:r>
              <a:rPr lang="en-US" sz="2000" b="1" dirty="0">
                <a:solidFill>
                  <a:schemeClr val="tx2"/>
                </a:solidFill>
              </a:rPr>
              <a:t>Absolute</a:t>
            </a:r>
            <a:endParaRPr lang="en-US" sz="2000" dirty="0"/>
          </a:p>
        </p:txBody>
      </p:sp>
      <p:sp>
        <p:nvSpPr>
          <p:cNvPr id="7" name="Text 5"/>
          <p:cNvSpPr txBox="1"/>
          <p:nvPr/>
        </p:nvSpPr>
        <p:spPr>
          <a:xfrm>
            <a:off x="822960" y="2377440"/>
            <a:ext cx="3017520" cy="777240"/>
          </a:xfrm>
          <a:prstGeom prst="rect">
            <a:avLst/>
          </a:prstGeom>
          <a:noFill/>
          <a:ln/>
        </p:spPr>
        <p:txBody>
          <a:bodyPr wrap="square" lIns="0" tIns="0" rIns="0" bIns="0" rtlCol="0" anchor="t"/>
          <a:lstStyle/>
          <a:p>
            <a:pPr marL="0" indent="0">
              <a:buNone/>
            </a:pPr>
            <a:r>
              <a:rPr lang="en-US" sz="1400" i="1" dirty="0">
                <a:solidFill>
                  <a:schemeClr val="tx1"/>
                </a:solidFill>
              </a:rPr>
              <a:t>Definitions; a revenue figure as published on its date</a:t>
            </a:r>
            <a:endParaRPr lang="en-US" sz="1400" dirty="0"/>
          </a:p>
        </p:txBody>
      </p:sp>
      <p:sp>
        <p:nvSpPr>
          <p:cNvPr id="8" name="Text 6"/>
          <p:cNvSpPr txBox="1"/>
          <p:nvPr/>
        </p:nvSpPr>
        <p:spPr>
          <a:xfrm>
            <a:off x="822960" y="3200400"/>
            <a:ext cx="3017520" cy="274320"/>
          </a:xfrm>
          <a:prstGeom prst="rect">
            <a:avLst/>
          </a:prstGeom>
          <a:noFill/>
          <a:ln/>
        </p:spPr>
        <p:txBody>
          <a:bodyPr wrap="square" lIns="0" tIns="0" rIns="0" bIns="0" rtlCol="0" anchor="t"/>
          <a:lstStyle/>
          <a:p>
            <a:pPr marL="0" indent="0">
              <a:buNone/>
            </a:pPr>
            <a:r>
              <a:rPr lang="en-US" sz="1100" b="1" dirty="0">
                <a:solidFill>
                  <a:schemeClr val="accent4"/>
                </a:solidFill>
              </a:rPr>
              <a:t>STORED WITH</a:t>
            </a:r>
            <a:endParaRPr lang="en-US" sz="1100" dirty="0"/>
          </a:p>
        </p:txBody>
      </p:sp>
      <p:sp>
        <p:nvSpPr>
          <p:cNvPr id="9" name="Text 7"/>
          <p:cNvSpPr txBox="1"/>
          <p:nvPr/>
        </p:nvSpPr>
        <p:spPr>
          <a:xfrm>
            <a:off x="822960" y="3474720"/>
            <a:ext cx="3017520" cy="868680"/>
          </a:xfrm>
          <a:prstGeom prst="rect">
            <a:avLst/>
          </a:prstGeom>
          <a:noFill/>
          <a:ln/>
        </p:spPr>
        <p:txBody>
          <a:bodyPr wrap="square" lIns="0" tIns="0" rIns="0" bIns="0" rtlCol="0" anchor="t"/>
          <a:lstStyle/>
          <a:p>
            <a:pPr marL="0" indent="0">
              <a:buNone/>
            </a:pPr>
            <a:r>
              <a:rPr lang="en-US" sz="1400" dirty="0">
                <a:solidFill>
                  <a:schemeClr val="tx1"/>
                </a:solidFill>
              </a:rPr>
              <a:t>Value, source, publication time</a:t>
            </a:r>
            <a:endParaRPr lang="en-US" sz="1400" dirty="0"/>
          </a:p>
        </p:txBody>
      </p:sp>
      <p:sp>
        <p:nvSpPr>
          <p:cNvPr id="10" name="Text 8"/>
          <p:cNvSpPr txBox="1"/>
          <p:nvPr/>
        </p:nvSpPr>
        <p:spPr>
          <a:xfrm>
            <a:off x="822960" y="4389120"/>
            <a:ext cx="3017520" cy="274320"/>
          </a:xfrm>
          <a:prstGeom prst="rect">
            <a:avLst/>
          </a:prstGeom>
          <a:noFill/>
          <a:ln/>
        </p:spPr>
        <p:txBody>
          <a:bodyPr wrap="square" lIns="0" tIns="0" rIns="0" bIns="0" rtlCol="0" anchor="t"/>
          <a:lstStyle/>
          <a:p>
            <a:pPr marL="0" indent="0">
              <a:buNone/>
            </a:pPr>
            <a:r>
              <a:rPr lang="en-US" sz="1100" b="1" dirty="0">
                <a:solidFill>
                  <a:schemeClr val="accent4"/>
                </a:solidFill>
              </a:rPr>
              <a:t>IN THE ANSWER</a:t>
            </a:r>
            <a:endParaRPr lang="en-US" sz="1100" dirty="0"/>
          </a:p>
        </p:txBody>
      </p:sp>
      <p:sp>
        <p:nvSpPr>
          <p:cNvPr id="11" name="Text 9"/>
          <p:cNvSpPr txBox="1"/>
          <p:nvPr/>
        </p:nvSpPr>
        <p:spPr>
          <a:xfrm>
            <a:off x="822960" y="4663440"/>
            <a:ext cx="3017520" cy="868680"/>
          </a:xfrm>
          <a:prstGeom prst="rect">
            <a:avLst/>
          </a:prstGeom>
          <a:noFill/>
          <a:ln/>
        </p:spPr>
        <p:txBody>
          <a:bodyPr wrap="square" lIns="0" tIns="0" rIns="0" bIns="0" rtlCol="0" anchor="t"/>
          <a:lstStyle/>
          <a:p>
            <a:pPr marL="0" indent="0">
              <a:buNone/>
            </a:pPr>
            <a:r>
              <a:rPr lang="en-US" sz="1400" dirty="0">
                <a:solidFill>
                  <a:schemeClr val="tx1"/>
                </a:solidFill>
              </a:rPr>
              <a:t>Stated as fact, with date and source</a:t>
            </a:r>
            <a:endParaRPr lang="en-US" sz="1400" dirty="0"/>
          </a:p>
        </p:txBody>
      </p:sp>
      <p:sp>
        <p:nvSpPr>
          <p:cNvPr id="12" name="kind-1"/>
          <p:cNvSpPr/>
          <p:nvPr/>
        </p:nvSpPr>
        <p:spPr>
          <a:xfrm>
            <a:off x="4297680" y="1325880"/>
            <a:ext cx="3566160" cy="4251960"/>
          </a:xfrm>
          <a:prstGeom prst="roundRect">
            <a:avLst>
              <a:gd name="adj" fmla="val 3077"/>
            </a:avLst>
          </a:prstGeom>
          <a:solidFill>
            <a:schemeClr val="bg2"/>
          </a:solidFill>
          <a:ln/>
        </p:spPr>
      </p:sp>
      <p:sp>
        <p:nvSpPr>
          <p:cNvPr id="13" name="kind-icon-1"/>
          <p:cNvSpPr/>
          <p:nvPr/>
        </p:nvSpPr>
        <p:spPr>
          <a:xfrm>
            <a:off x="4572000" y="1554480"/>
            <a:ext cx="640080" cy="640080"/>
          </a:xfrm>
          <a:prstGeom prst="ellipse">
            <a:avLst/>
          </a:prstGeom>
          <a:solidFill>
            <a:schemeClr val="accent1"/>
          </a:solidFill>
          <a:ln/>
        </p:spPr>
      </p:sp>
      <p:sp>
        <p:nvSpPr>
          <p:cNvPr id="14" name="Text 12"/>
          <p:cNvSpPr txBox="1"/>
          <p:nvPr/>
        </p:nvSpPr>
        <p:spPr>
          <a:xfrm>
            <a:off x="4572000" y="1554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C</a:t>
            </a:r>
            <a:endParaRPr lang="en-US" sz="2000" dirty="0"/>
          </a:p>
        </p:txBody>
      </p:sp>
      <p:sp>
        <p:nvSpPr>
          <p:cNvPr id="15" name="Text 13"/>
          <p:cNvSpPr txBox="1"/>
          <p:nvPr/>
        </p:nvSpPr>
        <p:spPr>
          <a:xfrm>
            <a:off x="5349240" y="1600200"/>
            <a:ext cx="2377440" cy="548640"/>
          </a:xfrm>
          <a:prstGeom prst="rect">
            <a:avLst/>
          </a:prstGeom>
          <a:noFill/>
          <a:ln/>
        </p:spPr>
        <p:txBody>
          <a:bodyPr wrap="square" lIns="0" tIns="0" rIns="0" bIns="0" rtlCol="0" anchor="ctr"/>
          <a:lstStyle/>
          <a:p>
            <a:pPr marL="0" indent="0">
              <a:buNone/>
            </a:pPr>
            <a:r>
              <a:rPr lang="en-US" sz="2000" b="1" dirty="0">
                <a:solidFill>
                  <a:schemeClr val="tx2"/>
                </a:solidFill>
              </a:rPr>
              <a:t>Conditional</a:t>
            </a:r>
            <a:endParaRPr lang="en-US" sz="2000" dirty="0"/>
          </a:p>
        </p:txBody>
      </p:sp>
      <p:sp>
        <p:nvSpPr>
          <p:cNvPr id="16" name="Text 14"/>
          <p:cNvSpPr txBox="1"/>
          <p:nvPr/>
        </p:nvSpPr>
        <p:spPr>
          <a:xfrm>
            <a:off x="4572000" y="2377440"/>
            <a:ext cx="3017520" cy="777240"/>
          </a:xfrm>
          <a:prstGeom prst="rect">
            <a:avLst/>
          </a:prstGeom>
          <a:noFill/>
          <a:ln/>
        </p:spPr>
        <p:txBody>
          <a:bodyPr wrap="square" lIns="0" tIns="0" rIns="0" bIns="0" rtlCol="0" anchor="t"/>
          <a:lstStyle/>
          <a:p>
            <a:pPr marL="0" indent="0">
              <a:buNone/>
            </a:pPr>
            <a:r>
              <a:rPr lang="en-US" sz="1400" i="1" dirty="0">
                <a:solidFill>
                  <a:schemeClr val="tx1"/>
                </a:solidFill>
              </a:rPr>
              <a:t>“Breakouts on high volume tend to continue.”</a:t>
            </a:r>
            <a:endParaRPr lang="en-US" sz="1400" dirty="0"/>
          </a:p>
        </p:txBody>
      </p:sp>
      <p:sp>
        <p:nvSpPr>
          <p:cNvPr id="17" name="Text 15"/>
          <p:cNvSpPr txBox="1"/>
          <p:nvPr/>
        </p:nvSpPr>
        <p:spPr>
          <a:xfrm>
            <a:off x="4572000" y="3200400"/>
            <a:ext cx="3017520" cy="274320"/>
          </a:xfrm>
          <a:prstGeom prst="rect">
            <a:avLst/>
          </a:prstGeom>
          <a:noFill/>
          <a:ln/>
        </p:spPr>
        <p:txBody>
          <a:bodyPr wrap="square" lIns="0" tIns="0" rIns="0" bIns="0" rtlCol="0" anchor="t"/>
          <a:lstStyle/>
          <a:p>
            <a:pPr marL="0" indent="0">
              <a:buNone/>
            </a:pPr>
            <a:r>
              <a:rPr lang="en-US" sz="1100" b="1" dirty="0">
                <a:solidFill>
                  <a:schemeClr val="accent4"/>
                </a:solidFill>
              </a:rPr>
              <a:t>STORED WITH</a:t>
            </a:r>
            <a:endParaRPr lang="en-US" sz="1100" dirty="0"/>
          </a:p>
        </p:txBody>
      </p:sp>
      <p:sp>
        <p:nvSpPr>
          <p:cNvPr id="18" name="Text 16"/>
          <p:cNvSpPr txBox="1"/>
          <p:nvPr/>
        </p:nvSpPr>
        <p:spPr>
          <a:xfrm>
            <a:off x="4572000" y="3474720"/>
            <a:ext cx="3017520" cy="868680"/>
          </a:xfrm>
          <a:prstGeom prst="rect">
            <a:avLst/>
          </a:prstGeom>
          <a:noFill/>
          <a:ln/>
        </p:spPr>
        <p:txBody>
          <a:bodyPr wrap="square" lIns="0" tIns="0" rIns="0" bIns="0" rtlCol="0" anchor="t"/>
          <a:lstStyle/>
          <a:p>
            <a:pPr marL="0" indent="0">
              <a:buNone/>
            </a:pPr>
            <a:r>
              <a:rPr lang="en-US" sz="1400" dirty="0">
                <a:solidFill>
                  <a:schemeClr val="tx1"/>
                </a:solidFill>
              </a:rPr>
              <a:t>Periods and market conditions where it held; evidence from leak-free tests; last check</a:t>
            </a:r>
            <a:endParaRPr lang="en-US" sz="1400" dirty="0"/>
          </a:p>
        </p:txBody>
      </p:sp>
      <p:sp>
        <p:nvSpPr>
          <p:cNvPr id="19" name="Text 17"/>
          <p:cNvSpPr txBox="1"/>
          <p:nvPr/>
        </p:nvSpPr>
        <p:spPr>
          <a:xfrm>
            <a:off x="4572000" y="4389120"/>
            <a:ext cx="3017520" cy="274320"/>
          </a:xfrm>
          <a:prstGeom prst="rect">
            <a:avLst/>
          </a:prstGeom>
          <a:noFill/>
          <a:ln/>
        </p:spPr>
        <p:txBody>
          <a:bodyPr wrap="square" lIns="0" tIns="0" rIns="0" bIns="0" rtlCol="0" anchor="t"/>
          <a:lstStyle/>
          <a:p>
            <a:pPr marL="0" indent="0">
              <a:buNone/>
            </a:pPr>
            <a:r>
              <a:rPr lang="en-US" sz="1100" b="1" dirty="0">
                <a:solidFill>
                  <a:schemeClr val="accent4"/>
                </a:solidFill>
              </a:rPr>
              <a:t>IN THE ANSWER</a:t>
            </a:r>
            <a:endParaRPr lang="en-US" sz="1100" dirty="0"/>
          </a:p>
        </p:txBody>
      </p:sp>
      <p:sp>
        <p:nvSpPr>
          <p:cNvPr id="20" name="Text 18"/>
          <p:cNvSpPr txBox="1"/>
          <p:nvPr/>
        </p:nvSpPr>
        <p:spPr>
          <a:xfrm>
            <a:off x="4572000" y="4663440"/>
            <a:ext cx="3017520" cy="868680"/>
          </a:xfrm>
          <a:prstGeom prst="rect">
            <a:avLst/>
          </a:prstGeom>
          <a:noFill/>
          <a:ln/>
        </p:spPr>
        <p:txBody>
          <a:bodyPr wrap="square" lIns="0" tIns="0" rIns="0" bIns="0" rtlCol="0" anchor="t"/>
          <a:lstStyle/>
          <a:p>
            <a:pPr marL="0" indent="0">
              <a:buNone/>
            </a:pPr>
            <a:r>
              <a:rPr lang="en-US" sz="1400" dirty="0">
                <a:solidFill>
                  <a:schemeClr val="tx1"/>
                </a:solidFill>
              </a:rPr>
              <a:t>“Held in high-volatility periods; not in the last 6 months.” Never “always true”</a:t>
            </a:r>
            <a:endParaRPr lang="en-US" sz="1400" dirty="0"/>
          </a:p>
        </p:txBody>
      </p:sp>
      <p:sp>
        <p:nvSpPr>
          <p:cNvPr id="21" name="kind-2"/>
          <p:cNvSpPr/>
          <p:nvPr/>
        </p:nvSpPr>
        <p:spPr>
          <a:xfrm>
            <a:off x="8046720" y="1325880"/>
            <a:ext cx="3566160" cy="4251960"/>
          </a:xfrm>
          <a:prstGeom prst="roundRect">
            <a:avLst>
              <a:gd name="adj" fmla="val 3077"/>
            </a:avLst>
          </a:prstGeom>
          <a:solidFill>
            <a:schemeClr val="bg2"/>
          </a:solidFill>
          <a:ln/>
        </p:spPr>
      </p:sp>
      <p:sp>
        <p:nvSpPr>
          <p:cNvPr id="22" name="kind-icon-2"/>
          <p:cNvSpPr/>
          <p:nvPr/>
        </p:nvSpPr>
        <p:spPr>
          <a:xfrm>
            <a:off x="8321040" y="1554480"/>
            <a:ext cx="640080" cy="640080"/>
          </a:xfrm>
          <a:prstGeom prst="ellipse">
            <a:avLst/>
          </a:prstGeom>
          <a:solidFill>
            <a:schemeClr val="accent3"/>
          </a:solidFill>
          <a:ln/>
        </p:spPr>
      </p:sp>
      <p:sp>
        <p:nvSpPr>
          <p:cNvPr id="23" name="Text 21"/>
          <p:cNvSpPr txBox="1"/>
          <p:nvPr/>
        </p:nvSpPr>
        <p:spPr>
          <a:xfrm>
            <a:off x="8321040" y="1554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O</a:t>
            </a:r>
            <a:endParaRPr lang="en-US" sz="2000" dirty="0"/>
          </a:p>
        </p:txBody>
      </p:sp>
      <p:sp>
        <p:nvSpPr>
          <p:cNvPr id="24" name="Text 22"/>
          <p:cNvSpPr txBox="1"/>
          <p:nvPr/>
        </p:nvSpPr>
        <p:spPr>
          <a:xfrm>
            <a:off x="9098280" y="1600200"/>
            <a:ext cx="2377440" cy="548640"/>
          </a:xfrm>
          <a:prstGeom prst="rect">
            <a:avLst/>
          </a:prstGeom>
          <a:noFill/>
          <a:ln/>
        </p:spPr>
        <p:txBody>
          <a:bodyPr wrap="square" lIns="0" tIns="0" rIns="0" bIns="0" rtlCol="0" anchor="ctr"/>
          <a:lstStyle/>
          <a:p>
            <a:pPr marL="0" indent="0">
              <a:buNone/>
            </a:pPr>
            <a:r>
              <a:rPr lang="en-US" sz="2000" b="1" dirty="0">
                <a:solidFill>
                  <a:schemeClr val="tx2"/>
                </a:solidFill>
              </a:rPr>
              <a:t>Opinion</a:t>
            </a:r>
            <a:endParaRPr lang="en-US" sz="2000" dirty="0"/>
          </a:p>
        </p:txBody>
      </p:sp>
      <p:sp>
        <p:nvSpPr>
          <p:cNvPr id="25" name="Text 23"/>
          <p:cNvSpPr txBox="1"/>
          <p:nvPr/>
        </p:nvSpPr>
        <p:spPr>
          <a:xfrm>
            <a:off x="8321040" y="2377440"/>
            <a:ext cx="3017520" cy="777240"/>
          </a:xfrm>
          <a:prstGeom prst="rect">
            <a:avLst/>
          </a:prstGeom>
          <a:noFill/>
          <a:ln/>
        </p:spPr>
        <p:txBody>
          <a:bodyPr wrap="square" lIns="0" tIns="0" rIns="0" bIns="0" rtlCol="0" anchor="t"/>
          <a:lstStyle/>
          <a:p>
            <a:pPr marL="0" indent="0">
              <a:buNone/>
            </a:pPr>
            <a:r>
              <a:rPr lang="en-US" sz="1400" i="1" dirty="0">
                <a:solidFill>
                  <a:schemeClr val="tx1"/>
                </a:solidFill>
              </a:rPr>
              <a:t>“Analyst A: the stock is overvalued.”</a:t>
            </a:r>
            <a:endParaRPr lang="en-US" sz="1400" dirty="0"/>
          </a:p>
        </p:txBody>
      </p:sp>
      <p:sp>
        <p:nvSpPr>
          <p:cNvPr id="26" name="Text 24"/>
          <p:cNvSpPr txBox="1"/>
          <p:nvPr/>
        </p:nvSpPr>
        <p:spPr>
          <a:xfrm>
            <a:off x="8321040" y="3200400"/>
            <a:ext cx="3017520" cy="274320"/>
          </a:xfrm>
          <a:prstGeom prst="rect">
            <a:avLst/>
          </a:prstGeom>
          <a:noFill/>
          <a:ln/>
        </p:spPr>
        <p:txBody>
          <a:bodyPr wrap="square" lIns="0" tIns="0" rIns="0" bIns="0" rtlCol="0" anchor="t"/>
          <a:lstStyle/>
          <a:p>
            <a:pPr marL="0" indent="0">
              <a:buNone/>
            </a:pPr>
            <a:r>
              <a:rPr lang="en-US" sz="1100" b="1" dirty="0">
                <a:solidFill>
                  <a:schemeClr val="accent4"/>
                </a:solidFill>
              </a:rPr>
              <a:t>STORED WITH</a:t>
            </a:r>
            <a:endParaRPr lang="en-US" sz="1100" dirty="0"/>
          </a:p>
        </p:txBody>
      </p:sp>
      <p:sp>
        <p:nvSpPr>
          <p:cNvPr id="27" name="Text 25"/>
          <p:cNvSpPr txBox="1"/>
          <p:nvPr/>
        </p:nvSpPr>
        <p:spPr>
          <a:xfrm>
            <a:off x="8321040" y="3474720"/>
            <a:ext cx="3017520" cy="868680"/>
          </a:xfrm>
          <a:prstGeom prst="rect">
            <a:avLst/>
          </a:prstGeom>
          <a:noFill/>
          <a:ln/>
        </p:spPr>
        <p:txBody>
          <a:bodyPr wrap="square" lIns="0" tIns="0" rIns="0" bIns="0" rtlCol="0" anchor="t"/>
          <a:lstStyle/>
          <a:p>
            <a:pPr marL="0" indent="0">
              <a:buNone/>
            </a:pPr>
            <a:r>
              <a:rPr lang="en-US" sz="1400" dirty="0">
                <a:solidFill>
                  <a:schemeClr val="tx1"/>
                </a:solidFill>
              </a:rPr>
              <a:t>Who, when, which side; opposing views</a:t>
            </a:r>
            <a:endParaRPr lang="en-US" sz="1400" dirty="0"/>
          </a:p>
        </p:txBody>
      </p:sp>
      <p:sp>
        <p:nvSpPr>
          <p:cNvPr id="28" name="Text 26"/>
          <p:cNvSpPr txBox="1"/>
          <p:nvPr/>
        </p:nvSpPr>
        <p:spPr>
          <a:xfrm>
            <a:off x="8321040" y="4389120"/>
            <a:ext cx="3017520" cy="274320"/>
          </a:xfrm>
          <a:prstGeom prst="rect">
            <a:avLst/>
          </a:prstGeom>
          <a:noFill/>
          <a:ln/>
        </p:spPr>
        <p:txBody>
          <a:bodyPr wrap="square" lIns="0" tIns="0" rIns="0" bIns="0" rtlCol="0" anchor="t"/>
          <a:lstStyle/>
          <a:p>
            <a:pPr marL="0" indent="0">
              <a:buNone/>
            </a:pPr>
            <a:r>
              <a:rPr lang="en-US" sz="1100" b="1" dirty="0">
                <a:solidFill>
                  <a:schemeClr val="accent4"/>
                </a:solidFill>
              </a:rPr>
              <a:t>IN THE ANSWER</a:t>
            </a:r>
            <a:endParaRPr lang="en-US" sz="1100" dirty="0"/>
          </a:p>
        </p:txBody>
      </p:sp>
      <p:sp>
        <p:nvSpPr>
          <p:cNvPr id="29" name="Text 27"/>
          <p:cNvSpPr txBox="1"/>
          <p:nvPr/>
        </p:nvSpPr>
        <p:spPr>
          <a:xfrm>
            <a:off x="8321040" y="4663440"/>
            <a:ext cx="3017520" cy="868680"/>
          </a:xfrm>
          <a:prstGeom prst="rect">
            <a:avLst/>
          </a:prstGeom>
          <a:noFill/>
          <a:ln/>
        </p:spPr>
        <p:txBody>
          <a:bodyPr wrap="square" lIns="0" tIns="0" rIns="0" bIns="0" rtlCol="0" anchor="t"/>
          <a:lstStyle/>
          <a:p>
            <a:pPr marL="0" indent="0">
              <a:buNone/>
            </a:pPr>
            <a:r>
              <a:rPr lang="en-US" sz="1400" dirty="0">
                <a:solidFill>
                  <a:schemeClr val="tx1"/>
                </a:solidFill>
              </a:rPr>
              <a:t>Labeled as opinion; both sides shown</a:t>
            </a:r>
            <a:endParaRPr lang="en-US" sz="1400" dirty="0"/>
          </a:p>
        </p:txBody>
      </p:sp>
      <p:sp>
        <p:nvSpPr>
          <p:cNvPr id="30" name="Text 28"/>
          <p:cNvSpPr txBox="1"/>
          <p:nvPr/>
        </p:nvSpPr>
        <p:spPr>
          <a:xfrm>
            <a:off x="548640" y="5760720"/>
            <a:ext cx="11064240" cy="365760"/>
          </a:xfrm>
          <a:prstGeom prst="rect">
            <a:avLst/>
          </a:prstGeom>
          <a:noFill/>
          <a:ln/>
        </p:spPr>
        <p:txBody>
          <a:bodyPr wrap="square" lIns="0" tIns="0" rIns="0" bIns="0" rtlCol="0" anchor="t"/>
          <a:lstStyle/>
          <a:p>
            <a:pPr marL="0" indent="0">
              <a:buNone/>
            </a:pPr>
            <a:r>
              <a:rPr lang="en-US" sz="1500" i="1" dirty="0">
                <a:solidFill>
                  <a:schemeClr val="accent4"/>
                </a:solidFill>
              </a:rPr>
              <a:t>The mentor's question “can we separate what is absolute from what is not?”, turned into a data model.</a:t>
            </a:r>
            <a:endParaRPr lang="en-US" sz="1500" dirty="0"/>
          </a:p>
        </p:txBody>
      </p:sp>
      <p:sp>
        <p:nvSpPr>
          <p:cNvPr id="31"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Architecture: the mentor's four building blocks</a:t>
            </a:r>
            <a:endParaRPr lang="en-US" sz="3200" dirty="0"/>
          </a:p>
        </p:txBody>
      </p:sp>
      <p:sp>
        <p:nvSpPr>
          <p:cNvPr id="3" name="a-q"/>
          <p:cNvSpPr/>
          <p:nvPr/>
        </p:nvSpPr>
        <p:spPr>
          <a:xfrm>
            <a:off x="548640" y="1325880"/>
            <a:ext cx="2743200" cy="868680"/>
          </a:xfrm>
          <a:prstGeom prst="roundRect">
            <a:avLst>
              <a:gd name="adj" fmla="val 12632"/>
            </a:avLst>
          </a:prstGeom>
          <a:solidFill>
            <a:schemeClr val="bg2"/>
          </a:solidFill>
          <a:ln/>
        </p:spPr>
      </p:sp>
      <p:sp>
        <p:nvSpPr>
          <p:cNvPr id="4" name="Text 2"/>
          <p:cNvSpPr txBox="1"/>
          <p:nvPr/>
        </p:nvSpPr>
        <p:spPr>
          <a:xfrm>
            <a:off x="685800" y="1325880"/>
            <a:ext cx="2468880" cy="868680"/>
          </a:xfrm>
          <a:prstGeom prst="rect">
            <a:avLst/>
          </a:prstGeom>
          <a:noFill/>
          <a:ln/>
        </p:spPr>
        <p:txBody>
          <a:bodyPr wrap="square" lIns="0" tIns="0" rIns="0" bIns="0" rtlCol="0" anchor="ctr"/>
          <a:lstStyle/>
          <a:p>
            <a:pPr marL="0" indent="0" algn="ctr">
              <a:buNone/>
            </a:pPr>
            <a:r>
              <a:rPr lang="en-US" sz="1400" b="1" dirty="0">
                <a:solidFill>
                  <a:schemeClr val="tx1"/>
                </a:solidFill>
              </a:rPr>
              <a:t>Question in plain words, or a template</a:t>
            </a:r>
            <a:endParaRPr lang="en-US" sz="1400" dirty="0"/>
          </a:p>
        </p:txBody>
      </p:sp>
      <p:sp>
        <p:nvSpPr>
          <p:cNvPr id="5" name="a-llm"/>
          <p:cNvSpPr/>
          <p:nvPr/>
        </p:nvSpPr>
        <p:spPr>
          <a:xfrm>
            <a:off x="3749040" y="1325880"/>
            <a:ext cx="3931920" cy="868680"/>
          </a:xfrm>
          <a:prstGeom prst="roundRect">
            <a:avLst>
              <a:gd name="adj" fmla="val 12632"/>
            </a:avLst>
          </a:prstGeom>
          <a:solidFill>
            <a:schemeClr val="bg2"/>
          </a:solidFill>
          <a:ln/>
        </p:spPr>
      </p:sp>
      <p:sp>
        <p:nvSpPr>
          <p:cNvPr id="6" name="Text 4"/>
          <p:cNvSpPr txBox="1"/>
          <p:nvPr/>
        </p:nvSpPr>
        <p:spPr>
          <a:xfrm>
            <a:off x="3886200" y="1325880"/>
            <a:ext cx="3657600" cy="868680"/>
          </a:xfrm>
          <a:prstGeom prst="rect">
            <a:avLst/>
          </a:prstGeom>
          <a:noFill/>
          <a:ln/>
        </p:spPr>
        <p:txBody>
          <a:bodyPr wrap="square" lIns="0" tIns="0" rIns="0" bIns="0" rtlCol="0" anchor="ctr"/>
          <a:lstStyle/>
          <a:p>
            <a:pPr marL="0" indent="0" algn="ctr">
              <a:buNone/>
            </a:pPr>
            <a:r>
              <a:rPr lang="en-US" sz="1400" dirty="0">
                <a:solidFill>
                  <a:schemeClr val="tx1"/>
                </a:solidFill>
              </a:rPr>
              <a:t>④ LLM: find the question type, ask back if unclear, plan tool calls</a:t>
            </a:r>
            <a:endParaRPr lang="en-US" sz="1400" dirty="0"/>
          </a:p>
        </p:txBody>
      </p:sp>
      <p:sp>
        <p:nvSpPr>
          <p:cNvPr id="7" name="a-ans"/>
          <p:cNvSpPr/>
          <p:nvPr/>
        </p:nvSpPr>
        <p:spPr>
          <a:xfrm>
            <a:off x="8092440" y="1325880"/>
            <a:ext cx="3520440" cy="868680"/>
          </a:xfrm>
          <a:prstGeom prst="roundRect">
            <a:avLst>
              <a:gd name="adj" fmla="val 12632"/>
            </a:avLst>
          </a:prstGeom>
          <a:solidFill>
            <a:schemeClr val="bg2"/>
          </a:solidFill>
          <a:ln/>
        </p:spPr>
      </p:sp>
      <p:sp>
        <p:nvSpPr>
          <p:cNvPr id="8" name="Text 6"/>
          <p:cNvSpPr txBox="1"/>
          <p:nvPr/>
        </p:nvSpPr>
        <p:spPr>
          <a:xfrm>
            <a:off x="8229600" y="1325880"/>
            <a:ext cx="3246120" cy="868680"/>
          </a:xfrm>
          <a:prstGeom prst="rect">
            <a:avLst/>
          </a:prstGeom>
          <a:noFill/>
          <a:ln/>
        </p:spPr>
        <p:txBody>
          <a:bodyPr wrap="square" lIns="0" tIns="0" rIns="0" bIns="0" rtlCol="0" anchor="ctr"/>
          <a:lstStyle/>
          <a:p>
            <a:pPr marL="0" indent="0" algn="ctr">
              <a:buNone/>
            </a:pPr>
            <a:r>
              <a:rPr lang="en-US" sz="1400" b="1" dirty="0">
                <a:solidFill>
                  <a:schemeClr val="tx1"/>
                </a:solidFill>
              </a:rPr>
              <a:t>Answer: every sentence labeled type + date + source</a:t>
            </a:r>
            <a:endParaRPr lang="en-US" sz="1400" dirty="0"/>
          </a:p>
        </p:txBody>
      </p:sp>
      <p:sp>
        <p:nvSpPr>
          <p:cNvPr id="9" name="a-ar1"/>
          <p:cNvSpPr/>
          <p:nvPr/>
        </p:nvSpPr>
        <p:spPr>
          <a:xfrm>
            <a:off x="3291840" y="1755648"/>
            <a:ext cx="457200" cy="0"/>
          </a:xfrm>
          <a:prstGeom prst="line">
            <a:avLst/>
          </a:prstGeom>
          <a:noFill/>
          <a:ln w="25400">
            <a:solidFill>
              <a:schemeClr val="accent4"/>
            </a:solidFill>
            <a:prstDash val="solid"/>
            <a:tailEnd type="triangle"/>
          </a:ln>
        </p:spPr>
      </p:sp>
      <p:sp>
        <p:nvSpPr>
          <p:cNvPr id="10" name="a-ar2"/>
          <p:cNvSpPr/>
          <p:nvPr/>
        </p:nvSpPr>
        <p:spPr>
          <a:xfrm>
            <a:off x="7680960" y="1755648"/>
            <a:ext cx="411480" cy="0"/>
          </a:xfrm>
          <a:prstGeom prst="line">
            <a:avLst/>
          </a:prstGeom>
          <a:noFill/>
          <a:ln w="25400">
            <a:solidFill>
              <a:schemeClr val="accent4"/>
            </a:solidFill>
            <a:prstDash val="solid"/>
            <a:tailEnd type="triangle"/>
          </a:ln>
        </p:spPr>
      </p:sp>
      <p:sp>
        <p:nvSpPr>
          <p:cNvPr id="11" name="a-tools"/>
          <p:cNvSpPr/>
          <p:nvPr/>
        </p:nvSpPr>
        <p:spPr>
          <a:xfrm>
            <a:off x="3749040" y="2606040"/>
            <a:ext cx="3931920" cy="685800"/>
          </a:xfrm>
          <a:prstGeom prst="roundRect">
            <a:avLst>
              <a:gd name="adj" fmla="val 16000"/>
            </a:avLst>
          </a:prstGeom>
          <a:solidFill>
            <a:schemeClr val="bg2"/>
          </a:solidFill>
          <a:ln/>
        </p:spPr>
      </p:sp>
      <p:sp>
        <p:nvSpPr>
          <p:cNvPr id="12" name="Text 10"/>
          <p:cNvSpPr txBox="1"/>
          <p:nvPr/>
        </p:nvSpPr>
        <p:spPr>
          <a:xfrm>
            <a:off x="3886200" y="2606040"/>
            <a:ext cx="3657600" cy="685800"/>
          </a:xfrm>
          <a:prstGeom prst="rect">
            <a:avLst/>
          </a:prstGeom>
          <a:noFill/>
          <a:ln/>
        </p:spPr>
        <p:txBody>
          <a:bodyPr wrap="square" lIns="0" tIns="0" rIns="0" bIns="0" rtlCol="0" anchor="ctr"/>
          <a:lstStyle/>
          <a:p>
            <a:pPr marL="0" indent="0" algn="ctr">
              <a:buNone/>
            </a:pPr>
            <a:r>
              <a:rPr lang="en-US" sz="1400" dirty="0">
                <a:solidFill>
                  <a:schemeClr val="tx1"/>
                </a:solidFill>
              </a:rPr>
              <a:t>② Tools via API / MCP</a:t>
            </a:r>
            <a:endParaRPr lang="en-US" sz="1400" dirty="0"/>
          </a:p>
        </p:txBody>
      </p:sp>
      <p:sp>
        <p:nvSpPr>
          <p:cNvPr id="13" name="a-ar3"/>
          <p:cNvSpPr/>
          <p:nvPr/>
        </p:nvSpPr>
        <p:spPr>
          <a:xfrm>
            <a:off x="5715000" y="2194560"/>
            <a:ext cx="0" cy="411480"/>
          </a:xfrm>
          <a:prstGeom prst="line">
            <a:avLst/>
          </a:prstGeom>
          <a:noFill/>
          <a:ln w="25400">
            <a:solidFill>
              <a:schemeClr val="accent4"/>
            </a:solidFill>
            <a:prstDash val="solid"/>
            <a:tailEnd type="triangle"/>
          </a:ln>
        </p:spPr>
      </p:sp>
      <p:sp>
        <p:nvSpPr>
          <p:cNvPr id="14" name="a-verify"/>
          <p:cNvSpPr/>
          <p:nvPr/>
        </p:nvSpPr>
        <p:spPr>
          <a:xfrm>
            <a:off x="8092440" y="2606040"/>
            <a:ext cx="3520440" cy="685800"/>
          </a:xfrm>
          <a:prstGeom prst="roundRect">
            <a:avLst>
              <a:gd name="adj" fmla="val 16000"/>
            </a:avLst>
          </a:prstGeom>
          <a:solidFill>
            <a:schemeClr val="bg2"/>
          </a:solidFill>
          <a:ln/>
        </p:spPr>
      </p:sp>
      <p:sp>
        <p:nvSpPr>
          <p:cNvPr id="15" name="Text 13"/>
          <p:cNvSpPr txBox="1"/>
          <p:nvPr/>
        </p:nvSpPr>
        <p:spPr>
          <a:xfrm>
            <a:off x="8229600" y="2606040"/>
            <a:ext cx="3246120" cy="685800"/>
          </a:xfrm>
          <a:prstGeom prst="rect">
            <a:avLst/>
          </a:prstGeom>
          <a:noFill/>
          <a:ln/>
        </p:spPr>
        <p:txBody>
          <a:bodyPr wrap="square" lIns="0" tIns="0" rIns="0" bIns="0" rtlCol="0" anchor="ctr"/>
          <a:lstStyle/>
          <a:p>
            <a:pPr marL="0" indent="0" algn="ctr">
              <a:buNone/>
            </a:pPr>
            <a:r>
              <a:rPr lang="en-US" sz="1400" dirty="0">
                <a:solidFill>
                  <a:schemeClr val="tx1"/>
                </a:solidFill>
              </a:rPr>
              <a:t>Verifier: unsupported claims → removed or “I don't know”</a:t>
            </a:r>
            <a:endParaRPr lang="en-US" sz="1400" dirty="0"/>
          </a:p>
        </p:txBody>
      </p:sp>
      <p:sp>
        <p:nvSpPr>
          <p:cNvPr id="16" name="a-ar4"/>
          <p:cNvSpPr/>
          <p:nvPr/>
        </p:nvSpPr>
        <p:spPr>
          <a:xfrm flipV="1">
            <a:off x="9857232" y="2194560"/>
            <a:ext cx="0" cy="411480"/>
          </a:xfrm>
          <a:prstGeom prst="line">
            <a:avLst/>
          </a:prstGeom>
          <a:noFill/>
          <a:ln w="25400">
            <a:solidFill>
              <a:schemeClr val="accent4"/>
            </a:solidFill>
            <a:prstDash val="solid"/>
            <a:tailEnd type="triangle"/>
          </a:ln>
        </p:spPr>
      </p:sp>
      <p:sp>
        <p:nvSpPr>
          <p:cNvPr id="17" name="a-store-0"/>
          <p:cNvSpPr/>
          <p:nvPr/>
        </p:nvSpPr>
        <p:spPr>
          <a:xfrm>
            <a:off x="548640" y="3657600"/>
            <a:ext cx="3566160" cy="868680"/>
          </a:xfrm>
          <a:prstGeom prst="roundRect">
            <a:avLst>
              <a:gd name="adj" fmla="val 12632"/>
            </a:avLst>
          </a:prstGeom>
          <a:solidFill>
            <a:schemeClr val="accent2">
              <a:alpha val="25000"/>
            </a:schemeClr>
          </a:solidFill>
          <a:ln/>
        </p:spPr>
      </p:sp>
      <p:sp>
        <p:nvSpPr>
          <p:cNvPr id="18" name="Text 16"/>
          <p:cNvSpPr txBox="1"/>
          <p:nvPr/>
        </p:nvSpPr>
        <p:spPr>
          <a:xfrm>
            <a:off x="685800" y="3657600"/>
            <a:ext cx="3291840" cy="868680"/>
          </a:xfrm>
          <a:prstGeom prst="rect">
            <a:avLst/>
          </a:prstGeom>
          <a:noFill/>
          <a:ln/>
        </p:spPr>
        <p:txBody>
          <a:bodyPr wrap="square" lIns="0" tIns="0" rIns="0" bIns="0" rtlCol="0" anchor="ctr"/>
          <a:lstStyle/>
          <a:p>
            <a:pPr marL="0" indent="0" algn="ctr">
              <a:buNone/>
            </a:pPr>
            <a:r>
              <a:rPr lang="en-US" sz="1500" b="1" dirty="0">
                <a:solidFill>
                  <a:schemeClr val="tx2"/>
                </a:solidFill>
              </a:rPr>
              <a:t>① Fact store (absolute)</a:t>
            </a:r>
            <a:endParaRPr lang="en-US" sz="1500" dirty="0"/>
          </a:p>
        </p:txBody>
      </p:sp>
      <p:sp>
        <p:nvSpPr>
          <p:cNvPr id="19" name="a-up-0"/>
          <p:cNvSpPr/>
          <p:nvPr/>
        </p:nvSpPr>
        <p:spPr>
          <a:xfrm flipV="1">
            <a:off x="2331720" y="4526280"/>
            <a:ext cx="0" cy="822960"/>
          </a:xfrm>
          <a:prstGeom prst="line">
            <a:avLst/>
          </a:prstGeom>
          <a:noFill/>
          <a:ln w="25400">
            <a:solidFill>
              <a:schemeClr val="accent4"/>
            </a:solidFill>
            <a:prstDash val="solid"/>
            <a:tailEnd type="triangle"/>
          </a:ln>
        </p:spPr>
      </p:sp>
      <p:sp>
        <p:nvSpPr>
          <p:cNvPr id="20" name="a-store-1"/>
          <p:cNvSpPr/>
          <p:nvPr/>
        </p:nvSpPr>
        <p:spPr>
          <a:xfrm>
            <a:off x="4297680" y="3657600"/>
            <a:ext cx="3566160" cy="868680"/>
          </a:xfrm>
          <a:prstGeom prst="roundRect">
            <a:avLst>
              <a:gd name="adj" fmla="val 12632"/>
            </a:avLst>
          </a:prstGeom>
          <a:solidFill>
            <a:schemeClr val="accent1">
              <a:alpha val="25000"/>
            </a:schemeClr>
          </a:solidFill>
          <a:ln/>
        </p:spPr>
      </p:sp>
      <p:sp>
        <p:nvSpPr>
          <p:cNvPr id="21" name="Text 19"/>
          <p:cNvSpPr txBox="1"/>
          <p:nvPr/>
        </p:nvSpPr>
        <p:spPr>
          <a:xfrm>
            <a:off x="4434840" y="3657600"/>
            <a:ext cx="3291840" cy="868680"/>
          </a:xfrm>
          <a:prstGeom prst="rect">
            <a:avLst/>
          </a:prstGeom>
          <a:noFill/>
          <a:ln/>
        </p:spPr>
        <p:txBody>
          <a:bodyPr wrap="square" lIns="0" tIns="0" rIns="0" bIns="0" rtlCol="0" anchor="ctr"/>
          <a:lstStyle/>
          <a:p>
            <a:pPr marL="0" indent="0" algn="ctr">
              <a:buNone/>
            </a:pPr>
            <a:r>
              <a:rPr lang="en-US" sz="1500" b="1" dirty="0">
                <a:solidFill>
                  <a:schemeClr val="tx2"/>
                </a:solidFill>
              </a:rPr>
              <a:t>① Conditional knowledge store</a:t>
            </a:r>
            <a:endParaRPr lang="en-US" sz="1500" dirty="0"/>
          </a:p>
        </p:txBody>
      </p:sp>
      <p:sp>
        <p:nvSpPr>
          <p:cNvPr id="22" name="a-up-1"/>
          <p:cNvSpPr/>
          <p:nvPr/>
        </p:nvSpPr>
        <p:spPr>
          <a:xfrm flipV="1">
            <a:off x="6080760" y="4526280"/>
            <a:ext cx="0" cy="822960"/>
          </a:xfrm>
          <a:prstGeom prst="line">
            <a:avLst/>
          </a:prstGeom>
          <a:noFill/>
          <a:ln w="25400">
            <a:solidFill>
              <a:schemeClr val="accent4"/>
            </a:solidFill>
            <a:prstDash val="solid"/>
            <a:tailEnd type="triangle"/>
          </a:ln>
        </p:spPr>
      </p:sp>
      <p:sp>
        <p:nvSpPr>
          <p:cNvPr id="23" name="a-store-2"/>
          <p:cNvSpPr/>
          <p:nvPr/>
        </p:nvSpPr>
        <p:spPr>
          <a:xfrm>
            <a:off x="8046720" y="3657600"/>
            <a:ext cx="3566160" cy="868680"/>
          </a:xfrm>
          <a:prstGeom prst="roundRect">
            <a:avLst>
              <a:gd name="adj" fmla="val 12632"/>
            </a:avLst>
          </a:prstGeom>
          <a:solidFill>
            <a:schemeClr val="accent3">
              <a:alpha val="25000"/>
            </a:schemeClr>
          </a:solidFill>
          <a:ln/>
        </p:spPr>
      </p:sp>
      <p:sp>
        <p:nvSpPr>
          <p:cNvPr id="24" name="Text 22"/>
          <p:cNvSpPr txBox="1"/>
          <p:nvPr/>
        </p:nvSpPr>
        <p:spPr>
          <a:xfrm>
            <a:off x="8183880" y="3657600"/>
            <a:ext cx="3291840" cy="868680"/>
          </a:xfrm>
          <a:prstGeom prst="rect">
            <a:avLst/>
          </a:prstGeom>
          <a:noFill/>
          <a:ln/>
        </p:spPr>
        <p:txBody>
          <a:bodyPr wrap="square" lIns="0" tIns="0" rIns="0" bIns="0" rtlCol="0" anchor="ctr"/>
          <a:lstStyle/>
          <a:p>
            <a:pPr marL="0" indent="0" algn="ctr">
              <a:buNone/>
            </a:pPr>
            <a:r>
              <a:rPr lang="en-US" sz="1500" b="1" dirty="0">
                <a:solidFill>
                  <a:schemeClr val="tx2"/>
                </a:solidFill>
              </a:rPr>
              <a:t>① Opinion store</a:t>
            </a:r>
            <a:endParaRPr lang="en-US" sz="1500" dirty="0"/>
          </a:p>
        </p:txBody>
      </p:sp>
      <p:sp>
        <p:nvSpPr>
          <p:cNvPr id="25" name="a-up-2"/>
          <p:cNvSpPr/>
          <p:nvPr/>
        </p:nvSpPr>
        <p:spPr>
          <a:xfrm flipV="1">
            <a:off x="9829800" y="4526280"/>
            <a:ext cx="0" cy="822960"/>
          </a:xfrm>
          <a:prstGeom prst="line">
            <a:avLst/>
          </a:prstGeom>
          <a:noFill/>
          <a:ln w="25400">
            <a:solidFill>
              <a:schemeClr val="accent4"/>
            </a:solidFill>
            <a:prstDash val="solid"/>
            <a:tailEnd type="triangle"/>
          </a:ln>
        </p:spPr>
      </p:sp>
      <p:sp>
        <p:nvSpPr>
          <p:cNvPr id="26" name="a-ar5"/>
          <p:cNvSpPr/>
          <p:nvPr/>
        </p:nvSpPr>
        <p:spPr>
          <a:xfrm>
            <a:off x="5715000" y="3291840"/>
            <a:ext cx="0" cy="365760"/>
          </a:xfrm>
          <a:prstGeom prst="line">
            <a:avLst/>
          </a:prstGeom>
          <a:noFill/>
          <a:ln w="25400">
            <a:solidFill>
              <a:schemeClr val="accent4"/>
            </a:solidFill>
            <a:prstDash val="solid"/>
            <a:tailEnd type="triangle"/>
          </a:ln>
        </p:spPr>
      </p:sp>
      <p:sp>
        <p:nvSpPr>
          <p:cNvPr id="27" name="a-pipe"/>
          <p:cNvSpPr/>
          <p:nvPr/>
        </p:nvSpPr>
        <p:spPr>
          <a:xfrm>
            <a:off x="548640" y="5349240"/>
            <a:ext cx="11064240" cy="685800"/>
          </a:xfrm>
          <a:prstGeom prst="roundRect">
            <a:avLst>
              <a:gd name="adj" fmla="val 16000"/>
            </a:avLst>
          </a:prstGeom>
          <a:solidFill>
            <a:schemeClr val="bg2"/>
          </a:solidFill>
          <a:ln/>
        </p:spPr>
      </p:sp>
      <p:sp>
        <p:nvSpPr>
          <p:cNvPr id="28" name="Text 26"/>
          <p:cNvSpPr txBox="1"/>
          <p:nvPr/>
        </p:nvSpPr>
        <p:spPr>
          <a:xfrm>
            <a:off x="685800" y="5349240"/>
            <a:ext cx="10789920" cy="685800"/>
          </a:xfrm>
          <a:prstGeom prst="rect">
            <a:avLst/>
          </a:prstGeom>
          <a:noFill/>
          <a:ln/>
        </p:spPr>
        <p:txBody>
          <a:bodyPr wrap="square" lIns="0" tIns="0" rIns="0" bIns="0" rtlCol="0" anchor="ctr"/>
          <a:lstStyle/>
          <a:p>
            <a:pPr marL="0" indent="0" algn="ctr">
              <a:buNone/>
            </a:pPr>
            <a:r>
              <a:rPr lang="en-US" sz="1400" b="1" dirty="0">
                <a:solidFill>
                  <a:schemeClr val="tx1"/>
                </a:solidFill>
              </a:rPr>
              <a:t>③ Data pipeline: prices, filings, documents, news → every item gets a date and a type</a:t>
            </a:r>
            <a:endParaRPr lang="en-US" sz="1400" dirty="0"/>
          </a:p>
        </p:txBody>
      </p:sp>
      <p:sp>
        <p:nvSpPr>
          <p:cNvPr id="29"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What an answer should look like</a:t>
            </a:r>
            <a:endParaRPr lang="en-US" sz="3200" dirty="0"/>
          </a:p>
        </p:txBody>
      </p:sp>
      <p:sp>
        <p:nvSpPr>
          <p:cNvPr id="3" name="mock-card"/>
          <p:cNvSpPr/>
          <p:nvPr/>
        </p:nvSpPr>
        <p:spPr>
          <a:xfrm>
            <a:off x="548640" y="1325880"/>
            <a:ext cx="11064240" cy="4343400"/>
          </a:xfrm>
          <a:prstGeom prst="roundRect">
            <a:avLst>
              <a:gd name="adj" fmla="val 2526"/>
            </a:avLst>
          </a:prstGeom>
          <a:solidFill>
            <a:schemeClr val="bg2"/>
          </a:solidFill>
          <a:ln/>
        </p:spPr>
      </p:sp>
      <p:sp>
        <p:nvSpPr>
          <p:cNvPr id="4" name="Text 2"/>
          <p:cNvSpPr txBox="1"/>
          <p:nvPr/>
        </p:nvSpPr>
        <p:spPr>
          <a:xfrm>
            <a:off x="868680" y="1508760"/>
            <a:ext cx="10424160" cy="502920"/>
          </a:xfrm>
          <a:prstGeom prst="rect">
            <a:avLst/>
          </a:prstGeom>
          <a:noFill/>
          <a:ln/>
        </p:spPr>
        <p:txBody>
          <a:bodyPr wrap="square" lIns="0" tIns="0" rIns="0" bIns="0" rtlCol="0" anchor="t"/>
          <a:lstStyle/>
          <a:p>
            <a:pPr marL="0" indent="0">
              <a:buNone/>
            </a:pPr>
            <a:r>
              <a:rPr lang="en-US" sz="1800" b="1" dirty="0">
                <a:solidFill>
                  <a:schemeClr val="tx2"/>
                </a:solidFill>
              </a:rPr>
              <a:t>“Does buying breakouts on high volume still work for Japanese stocks?”</a:t>
            </a:r>
            <a:endParaRPr lang="en-US" sz="1800" dirty="0"/>
          </a:p>
        </p:txBody>
      </p:sp>
      <p:sp>
        <p:nvSpPr>
          <p:cNvPr id="5" name="mock-pill-0"/>
          <p:cNvSpPr/>
          <p:nvPr/>
        </p:nvSpPr>
        <p:spPr>
          <a:xfrm>
            <a:off x="868680" y="2240280"/>
            <a:ext cx="2514600" cy="457200"/>
          </a:xfrm>
          <a:prstGeom prst="roundRect">
            <a:avLst>
              <a:gd name="adj" fmla="val 50000"/>
            </a:avLst>
          </a:prstGeom>
          <a:solidFill>
            <a:schemeClr val="accent1"/>
          </a:solidFill>
          <a:ln/>
        </p:spPr>
      </p:sp>
      <p:sp>
        <p:nvSpPr>
          <p:cNvPr id="6" name="Text 4"/>
          <p:cNvSpPr txBox="1"/>
          <p:nvPr/>
        </p:nvSpPr>
        <p:spPr>
          <a:xfrm>
            <a:off x="868680" y="2240280"/>
            <a:ext cx="2514600" cy="457200"/>
          </a:xfrm>
          <a:prstGeom prst="rect">
            <a:avLst/>
          </a:prstGeom>
          <a:noFill/>
          <a:ln/>
        </p:spPr>
        <p:txBody>
          <a:bodyPr wrap="square" lIns="0" tIns="0" rIns="0" bIns="0" rtlCol="0" anchor="ctr"/>
          <a:lstStyle/>
          <a:p>
            <a:pPr marL="0" indent="0" algn="ctr">
              <a:buNone/>
            </a:pPr>
            <a:r>
              <a:rPr lang="en-US" sz="1200" b="1" dirty="0">
                <a:solidFill>
                  <a:schemeClr val="bg1"/>
                </a:solidFill>
              </a:rPr>
              <a:t>CONDITIONAL</a:t>
            </a:r>
            <a:endParaRPr lang="en-US" sz="1200" dirty="0"/>
          </a:p>
        </p:txBody>
      </p:sp>
      <p:sp>
        <p:nvSpPr>
          <p:cNvPr id="7" name="Text 5"/>
          <p:cNvSpPr txBox="1"/>
          <p:nvPr/>
        </p:nvSpPr>
        <p:spPr>
          <a:xfrm>
            <a:off x="3611880" y="2240280"/>
            <a:ext cx="7772400" cy="548640"/>
          </a:xfrm>
          <a:prstGeom prst="rect">
            <a:avLst/>
          </a:prstGeom>
          <a:noFill/>
          <a:ln/>
        </p:spPr>
        <p:txBody>
          <a:bodyPr wrap="square" lIns="0" tIns="0" rIns="0" bIns="0" rtlCol="0" anchor="ctr"/>
          <a:lstStyle/>
          <a:p>
            <a:pPr marL="0" indent="0">
              <a:buNone/>
            </a:pPr>
            <a:r>
              <a:rPr lang="en-US" sz="1500" dirty="0">
                <a:solidFill>
                  <a:schemeClr val="tx1"/>
                </a:solidFill>
              </a:rPr>
              <a:t>Back-tests show the rule worked in high-volatility periods, but not in the last 6 months.</a:t>
            </a:r>
            <a:endParaRPr lang="en-US" sz="1500" dirty="0"/>
          </a:p>
        </p:txBody>
      </p:sp>
      <p:sp>
        <p:nvSpPr>
          <p:cNvPr id="8" name="mock-pill-1"/>
          <p:cNvSpPr/>
          <p:nvPr/>
        </p:nvSpPr>
        <p:spPr>
          <a:xfrm>
            <a:off x="868680" y="3063240"/>
            <a:ext cx="2514600" cy="457200"/>
          </a:xfrm>
          <a:prstGeom prst="roundRect">
            <a:avLst>
              <a:gd name="adj" fmla="val 50000"/>
            </a:avLst>
          </a:prstGeom>
          <a:solidFill>
            <a:schemeClr val="accent2"/>
          </a:solidFill>
          <a:ln/>
        </p:spPr>
      </p:sp>
      <p:sp>
        <p:nvSpPr>
          <p:cNvPr id="9" name="Text 7"/>
          <p:cNvSpPr txBox="1"/>
          <p:nvPr/>
        </p:nvSpPr>
        <p:spPr>
          <a:xfrm>
            <a:off x="868680" y="3063240"/>
            <a:ext cx="2514600" cy="457200"/>
          </a:xfrm>
          <a:prstGeom prst="rect">
            <a:avLst/>
          </a:prstGeom>
          <a:noFill/>
          <a:ln/>
        </p:spPr>
        <p:txBody>
          <a:bodyPr wrap="square" lIns="0" tIns="0" rIns="0" bIns="0" rtlCol="0" anchor="ctr"/>
          <a:lstStyle/>
          <a:p>
            <a:pPr marL="0" indent="0" algn="ctr">
              <a:buNone/>
            </a:pPr>
            <a:r>
              <a:rPr lang="en-US" sz="1200" b="1" dirty="0">
                <a:solidFill>
                  <a:schemeClr val="bg1"/>
                </a:solidFill>
              </a:rPr>
              <a:t>FACT · DB · as of today</a:t>
            </a:r>
            <a:endParaRPr lang="en-US" sz="1200" dirty="0"/>
          </a:p>
        </p:txBody>
      </p:sp>
      <p:sp>
        <p:nvSpPr>
          <p:cNvPr id="10" name="Text 8"/>
          <p:cNvSpPr txBox="1"/>
          <p:nvPr/>
        </p:nvSpPr>
        <p:spPr>
          <a:xfrm>
            <a:off x="3611880" y="3063240"/>
            <a:ext cx="7772400" cy="548640"/>
          </a:xfrm>
          <a:prstGeom prst="rect">
            <a:avLst/>
          </a:prstGeom>
          <a:noFill/>
          <a:ln/>
        </p:spPr>
        <p:txBody>
          <a:bodyPr wrap="square" lIns="0" tIns="0" rIns="0" bIns="0" rtlCol="0" anchor="ctr"/>
          <a:lstStyle/>
          <a:p>
            <a:pPr marL="0" indent="0">
              <a:buNone/>
            </a:pPr>
            <a:r>
              <a:rPr lang="en-US" sz="1500" dirty="0">
                <a:solidFill>
                  <a:schemeClr val="tx1"/>
                </a:solidFill>
              </a:rPr>
              <a:t>N stocks match “breakout + volume above 2× average” right now.</a:t>
            </a:r>
            <a:endParaRPr lang="en-US" sz="1500" dirty="0"/>
          </a:p>
        </p:txBody>
      </p:sp>
      <p:sp>
        <p:nvSpPr>
          <p:cNvPr id="11" name="mock-pill-2"/>
          <p:cNvSpPr/>
          <p:nvPr/>
        </p:nvSpPr>
        <p:spPr>
          <a:xfrm>
            <a:off x="868680" y="3886200"/>
            <a:ext cx="2514600" cy="457200"/>
          </a:xfrm>
          <a:prstGeom prst="roundRect">
            <a:avLst>
              <a:gd name="adj" fmla="val 50000"/>
            </a:avLst>
          </a:prstGeom>
          <a:solidFill>
            <a:schemeClr val="accent3"/>
          </a:solidFill>
          <a:ln/>
        </p:spPr>
      </p:sp>
      <p:sp>
        <p:nvSpPr>
          <p:cNvPr id="12" name="Text 10"/>
          <p:cNvSpPr txBox="1"/>
          <p:nvPr/>
        </p:nvSpPr>
        <p:spPr>
          <a:xfrm>
            <a:off x="868680" y="3886200"/>
            <a:ext cx="2514600" cy="457200"/>
          </a:xfrm>
          <a:prstGeom prst="rect">
            <a:avLst/>
          </a:prstGeom>
          <a:noFill/>
          <a:ln/>
        </p:spPr>
        <p:txBody>
          <a:bodyPr wrap="square" lIns="0" tIns="0" rIns="0" bIns="0" rtlCol="0" anchor="ctr"/>
          <a:lstStyle/>
          <a:p>
            <a:pPr marL="0" indent="0" algn="ctr">
              <a:buNone/>
            </a:pPr>
            <a:r>
              <a:rPr lang="en-US" sz="1200" b="1" dirty="0">
                <a:solidFill>
                  <a:schemeClr val="bg1"/>
                </a:solidFill>
              </a:rPr>
              <a:t>OPINION · 2 sources</a:t>
            </a:r>
            <a:endParaRPr lang="en-US" sz="1200" dirty="0"/>
          </a:p>
        </p:txBody>
      </p:sp>
      <p:sp>
        <p:nvSpPr>
          <p:cNvPr id="13" name="Text 11"/>
          <p:cNvSpPr txBox="1"/>
          <p:nvPr/>
        </p:nvSpPr>
        <p:spPr>
          <a:xfrm>
            <a:off x="3611880" y="3886200"/>
            <a:ext cx="7772400" cy="548640"/>
          </a:xfrm>
          <a:prstGeom prst="rect">
            <a:avLst/>
          </a:prstGeom>
          <a:noFill/>
          <a:ln/>
        </p:spPr>
        <p:txBody>
          <a:bodyPr wrap="square" lIns="0" tIns="0" rIns="0" bIns="0" rtlCol="0" anchor="ctr"/>
          <a:lstStyle/>
          <a:p>
            <a:pPr marL="0" indent="0">
              <a:buNone/>
            </a:pPr>
            <a:r>
              <a:rPr lang="en-US" sz="1500" dirty="0">
                <a:solidFill>
                  <a:schemeClr val="tx1"/>
                </a:solidFill>
              </a:rPr>
              <a:t>Some traders say bots now front-run breakouts; others disagree.</a:t>
            </a:r>
            <a:endParaRPr lang="en-US" sz="1500" dirty="0"/>
          </a:p>
        </p:txBody>
      </p:sp>
      <p:sp>
        <p:nvSpPr>
          <p:cNvPr id="14" name="mock-pill-3"/>
          <p:cNvSpPr/>
          <p:nvPr/>
        </p:nvSpPr>
        <p:spPr>
          <a:xfrm>
            <a:off x="868680" y="4709160"/>
            <a:ext cx="2514600" cy="457200"/>
          </a:xfrm>
          <a:prstGeom prst="roundRect">
            <a:avLst>
              <a:gd name="adj" fmla="val 50000"/>
            </a:avLst>
          </a:prstGeom>
          <a:solidFill>
            <a:schemeClr val="accent4"/>
          </a:solidFill>
          <a:ln/>
        </p:spPr>
      </p:sp>
      <p:sp>
        <p:nvSpPr>
          <p:cNvPr id="15" name="Text 13"/>
          <p:cNvSpPr txBox="1"/>
          <p:nvPr/>
        </p:nvSpPr>
        <p:spPr>
          <a:xfrm>
            <a:off x="868680" y="4709160"/>
            <a:ext cx="2514600" cy="457200"/>
          </a:xfrm>
          <a:prstGeom prst="rect">
            <a:avLst/>
          </a:prstGeom>
          <a:noFill/>
          <a:ln/>
        </p:spPr>
        <p:txBody>
          <a:bodyPr wrap="square" lIns="0" tIns="0" rIns="0" bIns="0" rtlCol="0" anchor="ctr"/>
          <a:lstStyle/>
          <a:p>
            <a:pPr marL="0" indent="0" algn="ctr">
              <a:buNone/>
            </a:pPr>
            <a:r>
              <a:rPr lang="en-US" sz="1200" b="1" dirty="0">
                <a:solidFill>
                  <a:schemeClr val="bg1"/>
                </a:solidFill>
              </a:rPr>
              <a:t>I DON'T KNOW</a:t>
            </a:r>
            <a:endParaRPr lang="en-US" sz="1200" dirty="0"/>
          </a:p>
        </p:txBody>
      </p:sp>
      <p:sp>
        <p:nvSpPr>
          <p:cNvPr id="16" name="Text 14"/>
          <p:cNvSpPr txBox="1"/>
          <p:nvPr/>
        </p:nvSpPr>
        <p:spPr>
          <a:xfrm>
            <a:off x="3611880" y="4709160"/>
            <a:ext cx="7772400" cy="548640"/>
          </a:xfrm>
          <a:prstGeom prst="rect">
            <a:avLst/>
          </a:prstGeom>
          <a:noFill/>
          <a:ln/>
        </p:spPr>
        <p:txBody>
          <a:bodyPr wrap="square" lIns="0" tIns="0" rIns="0" bIns="0" rtlCol="0" anchor="ctr"/>
          <a:lstStyle/>
          <a:p>
            <a:pPr marL="0" indent="0">
              <a:buNone/>
            </a:pPr>
            <a:r>
              <a:rPr lang="en-US" sz="1500" dirty="0">
                <a:solidFill>
                  <a:schemeClr val="tx1"/>
                </a:solidFill>
              </a:rPr>
              <a:t>The database has no intraday bot data, so the system does not claim why.</a:t>
            </a:r>
            <a:endParaRPr lang="en-US" sz="1500" dirty="0"/>
          </a:p>
        </p:txBody>
      </p:sp>
      <p:sp>
        <p:nvSpPr>
          <p:cNvPr id="17" name="Text 15"/>
          <p:cNvSpPr txBox="1"/>
          <p:nvPr/>
        </p:nvSpPr>
        <p:spPr>
          <a:xfrm>
            <a:off x="548640" y="5806440"/>
            <a:ext cx="11064240" cy="320040"/>
          </a:xfrm>
          <a:prstGeom prst="rect">
            <a:avLst/>
          </a:prstGeom>
          <a:noFill/>
          <a:ln/>
        </p:spPr>
        <p:txBody>
          <a:bodyPr wrap="square" lIns="0" tIns="0" rIns="0" bIns="0" rtlCol="0" anchor="t"/>
          <a:lstStyle/>
          <a:p>
            <a:pPr marL="0" indent="0">
              <a:buNone/>
            </a:pPr>
            <a:r>
              <a:rPr lang="en-US" sz="1200" i="1" dirty="0">
                <a:solidFill>
                  <a:schemeClr val="accent4"/>
                </a:solidFill>
              </a:rPr>
              <a:t>Illustrative mock-up of the target output. Not real system output; no real numbers.</a:t>
            </a:r>
            <a:endParaRPr lang="en-US" sz="1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How each failure is reduced, and how it is measured</a:t>
            </a:r>
            <a:endParaRPr lang="en-US" sz="3200" dirty="0"/>
          </a:p>
        </p:txBody>
      </p:sp>
      <p:graphicFrame>
        <p:nvGraphicFramePr>
          <p:cNvPr id="10" name="mech-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FFF"/>
                          </a:solidFill>
                        </a:rPr>
                        <a:t>Failure</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16323F"/>
                    </a:solidFill>
                  </a:tcPr>
                </a:tc>
                <a:tc>
                  <a:txBody>
                    <a:bodyPr/>
                    <a:lstStyle/>
                    <a:p>
                      <a:pPr marL="0" indent="0">
                        <a:buNone/>
                      </a:pPr>
                      <a:r>
                        <a:rPr lang="en-US" sz="1400" b="1" dirty="0">
                          <a:solidFill>
                            <a:srgbClr val="FFFFFF"/>
                          </a:solidFill>
                        </a:rPr>
                        <a:t>Mechanism</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16323F"/>
                    </a:solidFill>
                  </a:tcPr>
                </a:tc>
                <a:tc>
                  <a:txBody>
                    <a:bodyPr/>
                    <a:lstStyle/>
                    <a:p>
                      <a:pPr marL="0" indent="0">
                        <a:buNone/>
                      </a:pPr>
                      <a:r>
                        <a:rPr lang="en-US" sz="1400" b="1" dirty="0">
                          <a:solidFill>
                            <a:srgbClr val="FFFFFF"/>
                          </a:solidFill>
                        </a:rPr>
                        <a:t>Measured by</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16323F"/>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1B1B1B"/>
                          </a:solidFill>
                        </a:rPr>
                        <a:t>Made-up numbers</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Numbers come only from tools; the verifier checks every figure</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Numeric error rate</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1B1B1B"/>
                          </a:solidFill>
                        </a:rPr>
                        <a:t>Wrong time</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As-of retrieval (proven in spike 1)</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Future-leakage rate</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rgbClr val="1B1B1B"/>
                          </a:solidFill>
                        </a:rPr>
                        <a:t>Expired knowledge</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Conditional store with validity periods and re-tests</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Expired rules stated as true</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rgbClr val="1B1B1B"/>
                          </a:solidFill>
                        </a:rPr>
                        <a:t>Agreeing with the user</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Opposite framings; counter-evidence is always retrieved</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Answer flip rate between framings</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buNone/>
                      </a:pPr>
                      <a:r>
                        <a:rPr lang="en-US" sz="1400" b="1" dirty="0">
                          <a:solidFill>
                            <a:srgbClr val="1B1B1B"/>
                          </a:solidFill>
                        </a:rPr>
                        <a:t>Opinions as facts</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Claims without evidence are labeled or removed</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rPr>
                        <a:t>Unsupported-claim rate</a:t>
                      </a:r>
                      <a:endParaRPr lang="en-US" sz="1400" dirty="0"/>
                    </a:p>
                  </a:txBody>
                  <a:tcPr anchor="ctr">
                    <a:lnL w="12700" cap="flat" cmpd="sng" algn="ctr">
                      <a:solidFill>
                        <a:srgbClr val="D9E2E5"/>
                      </a:solidFill>
                      <a:prstDash val="solid"/>
                      <a:round/>
                      <a:headEnd type="none" w="med" len="med"/>
                      <a:tailEnd type="none" w="med" len="med"/>
                    </a:lnL>
                    <a:lnR w="12700" cap="flat" cmpd="sng" algn="ctr">
                      <a:solidFill>
                        <a:srgbClr val="D9E2E5"/>
                      </a:solidFill>
                      <a:prstDash val="solid"/>
                      <a:round/>
                      <a:headEnd type="none" w="med" len="med"/>
                      <a:tailEnd type="none" w="med" len="med"/>
                    </a:lnR>
                    <a:lnT w="12700" cap="flat" cmpd="sng" algn="ctr">
                      <a:solidFill>
                        <a:srgbClr val="D9E2E5"/>
                      </a:solidFill>
                      <a:prstDash val="solid"/>
                      <a:round/>
                      <a:headEnd type="none" w="med" len="med"/>
                      <a:tailEnd type="none" w="med" len="med"/>
                    </a:lnT>
                    <a:lnB w="12700" cap="flat" cmpd="sng" algn="ctr">
                      <a:solidFill>
                        <a:srgbClr val="D9E2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760720"/>
            <a:ext cx="11064240" cy="365760"/>
          </a:xfrm>
          <a:prstGeom prst="rect">
            <a:avLst/>
          </a:prstGeom>
          <a:noFill/>
          <a:ln/>
        </p:spPr>
        <p:txBody>
          <a:bodyPr wrap="square" lIns="0" tIns="0" rIns="0" bIns="0" rtlCol="0" anchor="t"/>
          <a:lstStyle/>
          <a:p>
            <a:pPr marL="0" indent="0">
              <a:buNone/>
            </a:pPr>
            <a:r>
              <a:rPr lang="en-US" sz="1500" i="1" dirty="0">
                <a:solidFill>
                  <a:schemeClr val="accent4"/>
                </a:solidFill>
              </a:rPr>
              <a:t>Goal: reduce, make visible, and measure. No system can remove hallucination and bias completely.</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Research questions and evaluation</a:t>
            </a:r>
            <a:endParaRPr lang="en-US" sz="3200" dirty="0"/>
          </a:p>
        </p:txBody>
      </p:sp>
      <p:sp>
        <p:nvSpPr>
          <p:cNvPr id="3" name="rq-0"/>
          <p:cNvSpPr/>
          <p:nvPr/>
        </p:nvSpPr>
        <p:spPr>
          <a:xfrm>
            <a:off x="548640" y="1417320"/>
            <a:ext cx="868680" cy="868680"/>
          </a:xfrm>
          <a:prstGeom prst="ellipse">
            <a:avLst/>
          </a:prstGeom>
          <a:solidFill>
            <a:schemeClr val="accent2"/>
          </a:solidFill>
          <a:ln/>
        </p:spPr>
      </p:sp>
      <p:sp>
        <p:nvSpPr>
          <p:cNvPr id="4" name="Text 2"/>
          <p:cNvSpPr txBox="1"/>
          <p:nvPr/>
        </p:nvSpPr>
        <p:spPr>
          <a:xfrm>
            <a:off x="548640" y="1417320"/>
            <a:ext cx="868680" cy="868680"/>
          </a:xfrm>
          <a:prstGeom prst="rect">
            <a:avLst/>
          </a:prstGeom>
          <a:noFill/>
          <a:ln/>
        </p:spPr>
        <p:txBody>
          <a:bodyPr wrap="square" lIns="0" tIns="0" rIns="0" bIns="0" rtlCol="0" anchor="ctr"/>
          <a:lstStyle/>
          <a:p>
            <a:pPr marL="0" indent="0" algn="ctr">
              <a:buNone/>
            </a:pPr>
            <a:r>
              <a:rPr lang="en-US" sz="1600" b="1" dirty="0">
                <a:solidFill>
                  <a:schemeClr val="bg1"/>
                </a:solidFill>
              </a:rPr>
              <a:t>RQ1</a:t>
            </a:r>
            <a:endParaRPr lang="en-US" sz="1600" dirty="0"/>
          </a:p>
        </p:txBody>
      </p:sp>
      <p:sp>
        <p:nvSpPr>
          <p:cNvPr id="5" name="Text 3"/>
          <p:cNvSpPr txBox="1"/>
          <p:nvPr/>
        </p:nvSpPr>
        <p:spPr>
          <a:xfrm>
            <a:off x="1645920" y="1463040"/>
            <a:ext cx="4937760" cy="1097280"/>
          </a:xfrm>
          <a:prstGeom prst="rect">
            <a:avLst/>
          </a:prstGeom>
          <a:noFill/>
          <a:ln/>
        </p:spPr>
        <p:txBody>
          <a:bodyPr wrap="square" lIns="0" tIns="0" rIns="0" bIns="0" rtlCol="0" anchor="t"/>
          <a:lstStyle/>
          <a:p>
            <a:pPr marL="0" indent="0">
              <a:buNone/>
            </a:pPr>
            <a:r>
              <a:rPr lang="en-US" sz="1600" dirty="0">
                <a:solidFill>
                  <a:schemeClr val="tx1"/>
                </a:solidFill>
              </a:rPr>
              <a:t>How accurately does the system label knowledge as absolute, conditional or opinion?</a:t>
            </a:r>
            <a:endParaRPr lang="en-US" sz="1600" dirty="0"/>
          </a:p>
        </p:txBody>
      </p:sp>
      <p:sp>
        <p:nvSpPr>
          <p:cNvPr id="6" name="rq-1"/>
          <p:cNvSpPr/>
          <p:nvPr/>
        </p:nvSpPr>
        <p:spPr>
          <a:xfrm>
            <a:off x="548640" y="2788920"/>
            <a:ext cx="868680" cy="868680"/>
          </a:xfrm>
          <a:prstGeom prst="ellipse">
            <a:avLst/>
          </a:prstGeom>
          <a:solidFill>
            <a:schemeClr val="accent2"/>
          </a:solidFill>
          <a:ln/>
        </p:spPr>
      </p:sp>
      <p:sp>
        <p:nvSpPr>
          <p:cNvPr id="7" name="Text 5"/>
          <p:cNvSpPr txBox="1"/>
          <p:nvPr/>
        </p:nvSpPr>
        <p:spPr>
          <a:xfrm>
            <a:off x="548640" y="2788920"/>
            <a:ext cx="868680" cy="868680"/>
          </a:xfrm>
          <a:prstGeom prst="rect">
            <a:avLst/>
          </a:prstGeom>
          <a:noFill/>
          <a:ln/>
        </p:spPr>
        <p:txBody>
          <a:bodyPr wrap="square" lIns="0" tIns="0" rIns="0" bIns="0" rtlCol="0" anchor="ctr"/>
          <a:lstStyle/>
          <a:p>
            <a:pPr marL="0" indent="0" algn="ctr">
              <a:buNone/>
            </a:pPr>
            <a:r>
              <a:rPr lang="en-US" sz="1600" b="1" dirty="0">
                <a:solidFill>
                  <a:schemeClr val="bg1"/>
                </a:solidFill>
              </a:rPr>
              <a:t>RQ2</a:t>
            </a:r>
            <a:endParaRPr lang="en-US" sz="1600" dirty="0"/>
          </a:p>
        </p:txBody>
      </p:sp>
      <p:sp>
        <p:nvSpPr>
          <p:cNvPr id="8" name="Text 6"/>
          <p:cNvSpPr txBox="1"/>
          <p:nvPr/>
        </p:nvSpPr>
        <p:spPr>
          <a:xfrm>
            <a:off x="1645920" y="2834640"/>
            <a:ext cx="4937760" cy="1097280"/>
          </a:xfrm>
          <a:prstGeom prst="rect">
            <a:avLst/>
          </a:prstGeom>
          <a:noFill/>
          <a:ln/>
        </p:spPr>
        <p:txBody>
          <a:bodyPr wrap="square" lIns="0" tIns="0" rIns="0" bIns="0" rtlCol="0" anchor="t"/>
          <a:lstStyle/>
          <a:p>
            <a:pPr marL="0" indent="0">
              <a:buNone/>
            </a:pPr>
            <a:r>
              <a:rPr lang="en-US" sz="1600" dirty="0">
                <a:solidFill>
                  <a:schemeClr val="tx1"/>
                </a:solidFill>
              </a:rPr>
              <a:t>How much do unsupported claims and wrong numbers drop vs. an LLM alone and plain RAG?</a:t>
            </a:r>
            <a:endParaRPr lang="en-US" sz="1600" dirty="0"/>
          </a:p>
        </p:txBody>
      </p:sp>
      <p:sp>
        <p:nvSpPr>
          <p:cNvPr id="9" name="rq-2"/>
          <p:cNvSpPr/>
          <p:nvPr/>
        </p:nvSpPr>
        <p:spPr>
          <a:xfrm>
            <a:off x="548640" y="4160520"/>
            <a:ext cx="868680" cy="868680"/>
          </a:xfrm>
          <a:prstGeom prst="ellipse">
            <a:avLst/>
          </a:prstGeom>
          <a:solidFill>
            <a:schemeClr val="accent2"/>
          </a:solidFill>
          <a:ln/>
        </p:spPr>
      </p:sp>
      <p:sp>
        <p:nvSpPr>
          <p:cNvPr id="10" name="Text 8"/>
          <p:cNvSpPr txBox="1"/>
          <p:nvPr/>
        </p:nvSpPr>
        <p:spPr>
          <a:xfrm>
            <a:off x="548640" y="4160520"/>
            <a:ext cx="868680" cy="868680"/>
          </a:xfrm>
          <a:prstGeom prst="rect">
            <a:avLst/>
          </a:prstGeom>
          <a:noFill/>
          <a:ln/>
        </p:spPr>
        <p:txBody>
          <a:bodyPr wrap="square" lIns="0" tIns="0" rIns="0" bIns="0" rtlCol="0" anchor="ctr"/>
          <a:lstStyle/>
          <a:p>
            <a:pPr marL="0" indent="0" algn="ctr">
              <a:buNone/>
            </a:pPr>
            <a:r>
              <a:rPr lang="en-US" sz="1600" b="1" dirty="0">
                <a:solidFill>
                  <a:schemeClr val="bg1"/>
                </a:solidFill>
              </a:rPr>
              <a:t>RQ3</a:t>
            </a:r>
            <a:endParaRPr lang="en-US" sz="1600" dirty="0"/>
          </a:p>
        </p:txBody>
      </p:sp>
      <p:sp>
        <p:nvSpPr>
          <p:cNvPr id="11" name="Text 9"/>
          <p:cNvSpPr txBox="1"/>
          <p:nvPr/>
        </p:nvSpPr>
        <p:spPr>
          <a:xfrm>
            <a:off x="1645920" y="4206240"/>
            <a:ext cx="4937760" cy="1097280"/>
          </a:xfrm>
          <a:prstGeom prst="rect">
            <a:avLst/>
          </a:prstGeom>
          <a:noFill/>
          <a:ln/>
        </p:spPr>
        <p:txBody>
          <a:bodyPr wrap="square" lIns="0" tIns="0" rIns="0" bIns="0" rtlCol="0" anchor="t"/>
          <a:lstStyle/>
          <a:p>
            <a:pPr marL="0" indent="0">
              <a:buNone/>
            </a:pPr>
            <a:r>
              <a:rPr lang="en-US" sz="1600" dirty="0">
                <a:solidFill>
                  <a:schemeClr val="tx1"/>
                </a:solidFill>
              </a:rPr>
              <a:t>How much less does the answer bend to the user's framing?</a:t>
            </a:r>
            <a:endParaRPr lang="en-US" sz="1600" dirty="0"/>
          </a:p>
        </p:txBody>
      </p:sp>
      <p:sp>
        <p:nvSpPr>
          <p:cNvPr id="12" name="eval-card"/>
          <p:cNvSpPr/>
          <p:nvPr/>
        </p:nvSpPr>
        <p:spPr>
          <a:xfrm>
            <a:off x="7040880" y="1417320"/>
            <a:ext cx="4572000" cy="4526280"/>
          </a:xfrm>
          <a:prstGeom prst="roundRect">
            <a:avLst>
              <a:gd name="adj" fmla="val 2424"/>
            </a:avLst>
          </a:prstGeom>
          <a:solidFill>
            <a:schemeClr val="bg2"/>
          </a:solidFill>
          <a:ln/>
        </p:spPr>
      </p:sp>
      <p:sp>
        <p:nvSpPr>
          <p:cNvPr id="13" name="Text 11"/>
          <p:cNvSpPr txBox="1"/>
          <p:nvPr/>
        </p:nvSpPr>
        <p:spPr>
          <a:xfrm>
            <a:off x="7315200" y="1645920"/>
            <a:ext cx="4023360" cy="457200"/>
          </a:xfrm>
          <a:prstGeom prst="rect">
            <a:avLst/>
          </a:prstGeom>
          <a:noFill/>
          <a:ln/>
        </p:spPr>
        <p:txBody>
          <a:bodyPr wrap="square" lIns="0" tIns="0" rIns="0" bIns="0" rtlCol="0" anchor="t"/>
          <a:lstStyle/>
          <a:p>
            <a:pPr marL="0" indent="0">
              <a:buNone/>
            </a:pPr>
            <a:r>
              <a:rPr lang="en-US" sz="2000" b="1" dirty="0">
                <a:solidFill>
                  <a:schemeClr val="tx2"/>
                </a:solidFill>
              </a:rPr>
              <a:t>Evaluation</a:t>
            </a:r>
            <a:endParaRPr lang="en-US" sz="2000" dirty="0"/>
          </a:p>
        </p:txBody>
      </p:sp>
      <p:sp>
        <p:nvSpPr>
          <p:cNvPr id="14" name="Text 12"/>
          <p:cNvSpPr txBox="1"/>
          <p:nvPr/>
        </p:nvSpPr>
        <p:spPr>
          <a:xfrm>
            <a:off x="7315200" y="2194560"/>
            <a:ext cx="402336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Benchmark: 200–300 questions over the 6 types</a:t>
            </a:r>
            <a:endParaRPr lang="en-US" sz="1500" dirty="0"/>
          </a:p>
          <a:p>
            <a:pPr marL="342900" indent="-342900">
              <a:spcAft>
                <a:spcPts val="800"/>
              </a:spcAft>
              <a:buSzPct val="100000"/>
              <a:buChar char="•"/>
            </a:pPr>
            <a:r>
              <a:rPr lang="en-US" sz="1500" dirty="0">
                <a:solidFill>
                  <a:schemeClr val="tx1"/>
                </a:solidFill>
              </a:rPr>
              <a:t>Each with an as-of date, a correct answer and correct labels, made by people</a:t>
            </a:r>
            <a:endParaRPr lang="en-US" sz="1500" dirty="0"/>
          </a:p>
          <a:p>
            <a:pPr marL="342900" indent="-342900">
              <a:spcAft>
                <a:spcPts val="800"/>
              </a:spcAft>
              <a:buSzPct val="100000"/>
              <a:buChar char="•"/>
            </a:pPr>
            <a:r>
              <a:rPr lang="en-US" sz="1500" dirty="0">
                <a:solidFill>
                  <a:schemeClr val="tx1"/>
                </a:solidFill>
              </a:rPr>
              <a:t>Baselines: LLM alone; plain RAG</a:t>
            </a:r>
            <a:endParaRPr lang="en-US" sz="1500" dirty="0"/>
          </a:p>
          <a:p>
            <a:pPr marL="342900" indent="-342900">
              <a:spcAft>
                <a:spcPts val="800"/>
              </a:spcAft>
              <a:buSzPct val="100000"/>
              <a:buChar char="•"/>
            </a:pPr>
            <a:r>
              <a:rPr lang="en-US" sz="1500" dirty="0">
                <a:solidFill>
                  <a:schemeClr val="tx1"/>
                </a:solidFill>
              </a:rPr>
              <a:t>Scope: one market first (US large caps, SEC EDGAR + FRED, English)</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What the spikes already show</a:t>
            </a:r>
            <a:endParaRPr lang="en-US" sz="3200" dirty="0"/>
          </a:p>
        </p:txBody>
      </p:sp>
      <p:sp>
        <p:nvSpPr>
          <p:cNvPr id="3" name="spike-0"/>
          <p:cNvSpPr/>
          <p:nvPr/>
        </p:nvSpPr>
        <p:spPr>
          <a:xfrm>
            <a:off x="548640" y="1371600"/>
            <a:ext cx="3566160" cy="4526280"/>
          </a:xfrm>
          <a:prstGeom prst="roundRect">
            <a:avLst>
              <a:gd name="adj" fmla="val 3077"/>
            </a:avLst>
          </a:prstGeom>
          <a:solidFill>
            <a:schemeClr val="bg2"/>
          </a:solidFill>
          <a:ln/>
        </p:spPr>
      </p:sp>
      <p:sp>
        <p:nvSpPr>
          <p:cNvPr id="4" name="Text 2"/>
          <p:cNvSpPr txBox="1"/>
          <p:nvPr/>
        </p:nvSpPr>
        <p:spPr>
          <a:xfrm>
            <a:off x="822960" y="1600200"/>
            <a:ext cx="3017520" cy="82296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NOT YET KNOWN</a:t>
            </a:r>
            <a:endParaRPr lang="en-US" sz="2600" dirty="0"/>
          </a:p>
        </p:txBody>
      </p:sp>
      <p:sp>
        <p:nvSpPr>
          <p:cNvPr id="5" name="Text 3"/>
          <p:cNvSpPr txBox="1"/>
          <p:nvPr/>
        </p:nvSpPr>
        <p:spPr>
          <a:xfrm>
            <a:off x="822960" y="2560320"/>
            <a:ext cx="3017520" cy="502920"/>
          </a:xfrm>
          <a:prstGeom prst="rect">
            <a:avLst/>
          </a:prstGeom>
          <a:noFill/>
          <a:ln/>
        </p:spPr>
        <p:txBody>
          <a:bodyPr wrap="square" lIns="0" tIns="0" rIns="0" bIns="0" rtlCol="0" anchor="t"/>
          <a:lstStyle/>
          <a:p>
            <a:pPr marL="0" indent="0">
              <a:buNone/>
            </a:pPr>
            <a:r>
              <a:rPr lang="en-US" sz="1800" b="1" dirty="0">
                <a:solidFill>
                  <a:schemeClr val="tx2"/>
                </a:solidFill>
              </a:rPr>
              <a:t>Point-in-time data works</a:t>
            </a:r>
            <a:endParaRPr lang="en-US" sz="1800" dirty="0"/>
          </a:p>
        </p:txBody>
      </p:sp>
      <p:sp>
        <p:nvSpPr>
          <p:cNvPr id="6" name="Text 4"/>
          <p:cNvSpPr txBox="1"/>
          <p:nvPr/>
        </p:nvSpPr>
        <p:spPr>
          <a:xfrm>
            <a:off x="822960" y="3108960"/>
            <a:ext cx="3017520" cy="2651760"/>
          </a:xfrm>
          <a:prstGeom prst="rect">
            <a:avLst/>
          </a:prstGeom>
          <a:noFill/>
          <a:ln/>
        </p:spPr>
        <p:txBody>
          <a:bodyPr wrap="square" lIns="0" tIns="0" rIns="0" bIns="0" rtlCol="0" anchor="t"/>
          <a:lstStyle/>
          <a:p>
            <a:pPr marL="0" indent="0">
              <a:buNone/>
            </a:pPr>
            <a:r>
              <a:rPr lang="en-US" sz="1400" dirty="0">
                <a:solidFill>
                  <a:schemeClr val="tx1"/>
                </a:solidFill>
              </a:rPr>
              <a:t>Apple FY2025 revenue ($416.16B) was first filed on 2025-10-31. Asked as of 2025-09-27, the system answers “not yet known”.</a:t>
            </a:r>
            <a:endParaRPr lang="en-US" sz="1400" dirty="0"/>
          </a:p>
        </p:txBody>
      </p:sp>
      <p:sp>
        <p:nvSpPr>
          <p:cNvPr id="7" name="spike-1"/>
          <p:cNvSpPr/>
          <p:nvPr/>
        </p:nvSpPr>
        <p:spPr>
          <a:xfrm>
            <a:off x="4297680" y="1371600"/>
            <a:ext cx="3566160" cy="4526280"/>
          </a:xfrm>
          <a:prstGeom prst="roundRect">
            <a:avLst>
              <a:gd name="adj" fmla="val 3077"/>
            </a:avLst>
          </a:prstGeom>
          <a:solidFill>
            <a:schemeClr val="bg2"/>
          </a:solidFill>
          <a:ln/>
        </p:spPr>
      </p:sp>
      <p:sp>
        <p:nvSpPr>
          <p:cNvPr id="8" name="Text 6"/>
          <p:cNvSpPr txBox="1"/>
          <p:nvPr/>
        </p:nvSpPr>
        <p:spPr>
          <a:xfrm>
            <a:off x="4572000" y="1600200"/>
            <a:ext cx="3017520" cy="822960"/>
          </a:xfrm>
          <a:prstGeom prst="rect">
            <a:avLst/>
          </a:prstGeom>
          <a:noFill/>
          <a:ln/>
        </p:spPr>
        <p:txBody>
          <a:bodyPr wrap="square" lIns="0" tIns="0" rIns="0" bIns="0" rtlCol="0" anchor="ctr"/>
          <a:lstStyle/>
          <a:p>
            <a:pPr marL="0" indent="0">
              <a:buNone/>
            </a:pPr>
            <a:r>
              <a:rPr lang="en-US" sz="4400" b="1" dirty="0">
                <a:solidFill>
                  <a:schemeClr val="accent3"/>
                </a:solidFill>
                <a:latin typeface="Cambria" pitchFamily="34" charset="0"/>
                <a:ea typeface="Cambria" pitchFamily="34" charset="-122"/>
                <a:cs typeface="Cambria" pitchFamily="34" charset="-120"/>
              </a:rPr>
              <a:t>31%</a:t>
            </a:r>
            <a:endParaRPr lang="en-US" sz="4400" dirty="0"/>
          </a:p>
        </p:txBody>
      </p:sp>
      <p:sp>
        <p:nvSpPr>
          <p:cNvPr id="9" name="Text 7"/>
          <p:cNvSpPr txBox="1"/>
          <p:nvPr/>
        </p:nvSpPr>
        <p:spPr>
          <a:xfrm>
            <a:off x="4572000" y="2560320"/>
            <a:ext cx="3017520" cy="502920"/>
          </a:xfrm>
          <a:prstGeom prst="rect">
            <a:avLst/>
          </a:prstGeom>
          <a:noFill/>
          <a:ln/>
        </p:spPr>
        <p:txBody>
          <a:bodyPr wrap="square" lIns="0" tIns="0" rIns="0" bIns="0" rtlCol="0" anchor="t"/>
          <a:lstStyle/>
          <a:p>
            <a:pPr marL="0" indent="0">
              <a:buNone/>
            </a:pPr>
            <a:r>
              <a:rPr lang="en-US" sz="1800" b="1" dirty="0">
                <a:solidFill>
                  <a:schemeClr val="tx2"/>
                </a:solidFill>
              </a:rPr>
              <a:t>Labeling needs an LLM</a:t>
            </a:r>
            <a:endParaRPr lang="en-US" sz="1800" dirty="0"/>
          </a:p>
        </p:txBody>
      </p:sp>
      <p:sp>
        <p:nvSpPr>
          <p:cNvPr id="10" name="Text 8"/>
          <p:cNvSpPr txBox="1"/>
          <p:nvPr/>
        </p:nvSpPr>
        <p:spPr>
          <a:xfrm>
            <a:off x="4572000" y="3108960"/>
            <a:ext cx="3017520" cy="2651760"/>
          </a:xfrm>
          <a:prstGeom prst="rect">
            <a:avLst/>
          </a:prstGeom>
          <a:noFill/>
          <a:ln/>
        </p:spPr>
        <p:txBody>
          <a:bodyPr wrap="square" lIns="0" tIns="0" rIns="0" bIns="0" rtlCol="0" anchor="t"/>
          <a:lstStyle/>
          <a:p>
            <a:pPr marL="0" indent="0">
              <a:buNone/>
            </a:pPr>
            <a:r>
              <a:rPr lang="en-US" sz="1400" dirty="0">
                <a:solidFill>
                  <a:schemeClr val="tx1"/>
                </a:solidFill>
              </a:rPr>
              <a:t>Keyword rules matched reference labels on only 31% of 75 MD&amp;A sentences; 11% of sentences hold two claims. (Reference labels by an LLM, not yet human-verified.)</a:t>
            </a:r>
            <a:endParaRPr lang="en-US" sz="1400" dirty="0"/>
          </a:p>
        </p:txBody>
      </p:sp>
      <p:sp>
        <p:nvSpPr>
          <p:cNvPr id="11" name="spike-2"/>
          <p:cNvSpPr/>
          <p:nvPr/>
        </p:nvSpPr>
        <p:spPr>
          <a:xfrm>
            <a:off x="8046720" y="1371600"/>
            <a:ext cx="3566160" cy="4526280"/>
          </a:xfrm>
          <a:prstGeom prst="roundRect">
            <a:avLst>
              <a:gd name="adj" fmla="val 3077"/>
            </a:avLst>
          </a:prstGeom>
          <a:solidFill>
            <a:schemeClr val="bg2"/>
          </a:solidFill>
          <a:ln/>
        </p:spPr>
      </p:sp>
      <p:sp>
        <p:nvSpPr>
          <p:cNvPr id="12" name="Text 10"/>
          <p:cNvSpPr txBox="1"/>
          <p:nvPr/>
        </p:nvSpPr>
        <p:spPr>
          <a:xfrm>
            <a:off x="8321040" y="1600200"/>
            <a:ext cx="3017520" cy="822960"/>
          </a:xfrm>
          <a:prstGeom prst="rect">
            <a:avLst/>
          </a:prstGeom>
          <a:noFill/>
          <a:ln/>
        </p:spPr>
        <p:txBody>
          <a:bodyPr wrap="square" lIns="0" tIns="0" rIns="0" bIns="0" rtlCol="0" anchor="ctr"/>
          <a:lstStyle/>
          <a:p>
            <a:pPr marL="0" indent="0">
              <a:buNone/>
            </a:pPr>
            <a:r>
              <a:rPr lang="en-US" sz="4400" b="1" dirty="0">
                <a:solidFill>
                  <a:schemeClr val="accent1"/>
                </a:solidFill>
                <a:latin typeface="Cambria" pitchFamily="34" charset="0"/>
                <a:ea typeface="Cambria" pitchFamily="34" charset="-122"/>
                <a:cs typeface="Cambria" pitchFamily="34" charset="-120"/>
              </a:rPr>
              <a:t>3 / 3</a:t>
            </a:r>
            <a:endParaRPr lang="en-US" sz="4400" dirty="0"/>
          </a:p>
        </p:txBody>
      </p:sp>
      <p:sp>
        <p:nvSpPr>
          <p:cNvPr id="13" name="Text 11"/>
          <p:cNvSpPr txBox="1"/>
          <p:nvPr/>
        </p:nvSpPr>
        <p:spPr>
          <a:xfrm>
            <a:off x="8321040" y="2560320"/>
            <a:ext cx="3017520" cy="502920"/>
          </a:xfrm>
          <a:prstGeom prst="rect">
            <a:avLst/>
          </a:prstGeom>
          <a:noFill/>
          <a:ln/>
        </p:spPr>
        <p:txBody>
          <a:bodyPr wrap="square" lIns="0" tIns="0" rIns="0" bIns="0" rtlCol="0" anchor="t"/>
          <a:lstStyle/>
          <a:p>
            <a:pPr marL="0" indent="0">
              <a:buNone/>
            </a:pPr>
            <a:r>
              <a:rPr lang="en-US" sz="1800" b="1" dirty="0">
                <a:solidFill>
                  <a:schemeClr val="tx2"/>
                </a:solidFill>
              </a:rPr>
              <a:t>Leak detector for honest tests</a:t>
            </a:r>
            <a:endParaRPr lang="en-US" sz="1800" dirty="0"/>
          </a:p>
        </p:txBody>
      </p:sp>
      <p:sp>
        <p:nvSpPr>
          <p:cNvPr id="14" name="Text 12"/>
          <p:cNvSpPr txBox="1"/>
          <p:nvPr/>
        </p:nvSpPr>
        <p:spPr>
          <a:xfrm>
            <a:off x="8321040" y="3108960"/>
            <a:ext cx="3017520" cy="2651760"/>
          </a:xfrm>
          <a:prstGeom prst="rect">
            <a:avLst/>
          </a:prstGeom>
          <a:noFill/>
          <a:ln/>
        </p:spPr>
        <p:txBody>
          <a:bodyPr wrap="square" lIns="0" tIns="0" rIns="0" bIns="0" rtlCol="0" anchor="t"/>
          <a:lstStyle/>
          <a:p>
            <a:pPr marL="0" indent="0">
              <a:buNone/>
            </a:pPr>
            <a:r>
              <a:rPr lang="en-US" sz="1400" dirty="0">
                <a:solidFill>
                  <a:schemeClr val="tx1"/>
                </a:solidFill>
              </a:rPr>
              <a:t>A strict perturbation test caught all 3 look-ahead bugs; a simple test missed the most common one. Needed to test conditional knowledge without cheating.</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Risks and how the scope handles them</a:t>
            </a:r>
            <a:endParaRPr lang="en-US" sz="3200" dirty="0"/>
          </a:p>
        </p:txBody>
      </p:sp>
      <p:sp>
        <p:nvSpPr>
          <p:cNvPr id="3" name="risk-0"/>
          <p:cNvSpPr/>
          <p:nvPr/>
        </p:nvSpPr>
        <p:spPr>
          <a:xfrm>
            <a:off x="548640" y="1371600"/>
            <a:ext cx="5440680" cy="2103120"/>
          </a:xfrm>
          <a:prstGeom prst="roundRect">
            <a:avLst>
              <a:gd name="adj" fmla="val 5217"/>
            </a:avLst>
          </a:prstGeom>
          <a:solidFill>
            <a:schemeClr val="bg2"/>
          </a:solidFill>
          <a:ln/>
        </p:spPr>
      </p:sp>
      <p:sp>
        <p:nvSpPr>
          <p:cNvPr id="4" name="risk-num-0"/>
          <p:cNvSpPr/>
          <p:nvPr/>
        </p:nvSpPr>
        <p:spPr>
          <a:xfrm>
            <a:off x="822960" y="1645920"/>
            <a:ext cx="548640" cy="548640"/>
          </a:xfrm>
          <a:prstGeom prst="ellipse">
            <a:avLst/>
          </a:prstGeom>
          <a:solidFill>
            <a:schemeClr val="accent4"/>
          </a:solidFill>
          <a:ln/>
        </p:spPr>
      </p:sp>
      <p:sp>
        <p:nvSpPr>
          <p:cNvPr id="5" name="Text 3"/>
          <p:cNvSpPr txBox="1"/>
          <p:nvPr/>
        </p:nvSpPr>
        <p:spPr>
          <a:xfrm>
            <a:off x="822960" y="16459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554480" y="1645920"/>
            <a:ext cx="4206240" cy="548640"/>
          </a:xfrm>
          <a:prstGeom prst="rect">
            <a:avLst/>
          </a:prstGeom>
          <a:noFill/>
          <a:ln/>
        </p:spPr>
        <p:txBody>
          <a:bodyPr wrap="square" lIns="0" tIns="0" rIns="0" bIns="0" rtlCol="0" anchor="ctr"/>
          <a:lstStyle/>
          <a:p>
            <a:pPr marL="0" indent="0">
              <a:buNone/>
            </a:pPr>
            <a:r>
              <a:rPr lang="en-US" sz="1700" b="1" dirty="0">
                <a:solidFill>
                  <a:schemeClr val="tx2"/>
                </a:solidFill>
              </a:rPr>
              <a:t>Conditional knowledge is the hardest part</a:t>
            </a:r>
            <a:endParaRPr lang="en-US" sz="1700" dirty="0"/>
          </a:p>
        </p:txBody>
      </p:sp>
      <p:sp>
        <p:nvSpPr>
          <p:cNvPr id="7" name="Text 5"/>
          <p:cNvSpPr txBox="1"/>
          <p:nvPr/>
        </p:nvSpPr>
        <p:spPr>
          <a:xfrm>
            <a:off x="822960" y="2377440"/>
            <a:ext cx="4892040" cy="960120"/>
          </a:xfrm>
          <a:prstGeom prst="rect">
            <a:avLst/>
          </a:prstGeom>
          <a:noFill/>
          <a:ln/>
        </p:spPr>
        <p:txBody>
          <a:bodyPr wrap="square" lIns="0" tIns="0" rIns="0" bIns="0" rtlCol="0" anchor="t"/>
          <a:lstStyle/>
          <a:p>
            <a:pPr marL="0" indent="0">
              <a:buNone/>
            </a:pPr>
            <a:r>
              <a:rPr lang="en-US" sz="1500" dirty="0">
                <a:solidFill>
                  <a:schemeClr val="tx1"/>
                </a:solidFill>
              </a:rPr>
              <a:t>Start with 20–30 well-known rules and relationships, and test each over time.</a:t>
            </a:r>
            <a:endParaRPr lang="en-US" sz="1500" dirty="0"/>
          </a:p>
        </p:txBody>
      </p:sp>
      <p:sp>
        <p:nvSpPr>
          <p:cNvPr id="8" name="risk-1"/>
          <p:cNvSpPr/>
          <p:nvPr/>
        </p:nvSpPr>
        <p:spPr>
          <a:xfrm>
            <a:off x="6172200" y="1371600"/>
            <a:ext cx="5440680" cy="2103120"/>
          </a:xfrm>
          <a:prstGeom prst="roundRect">
            <a:avLst>
              <a:gd name="adj" fmla="val 5217"/>
            </a:avLst>
          </a:prstGeom>
          <a:solidFill>
            <a:schemeClr val="bg2"/>
          </a:solidFill>
          <a:ln/>
        </p:spPr>
      </p:sp>
      <p:sp>
        <p:nvSpPr>
          <p:cNvPr id="9" name="risk-num-1"/>
          <p:cNvSpPr/>
          <p:nvPr/>
        </p:nvSpPr>
        <p:spPr>
          <a:xfrm>
            <a:off x="6446520" y="1645920"/>
            <a:ext cx="548640" cy="548640"/>
          </a:xfrm>
          <a:prstGeom prst="ellipse">
            <a:avLst/>
          </a:prstGeom>
          <a:solidFill>
            <a:schemeClr val="accent4"/>
          </a:solidFill>
          <a:ln/>
        </p:spPr>
      </p:sp>
      <p:sp>
        <p:nvSpPr>
          <p:cNvPr id="10" name="Text 8"/>
          <p:cNvSpPr txBox="1"/>
          <p:nvPr/>
        </p:nvSpPr>
        <p:spPr>
          <a:xfrm>
            <a:off x="6446520" y="16459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7178040" y="1645920"/>
            <a:ext cx="4206240" cy="548640"/>
          </a:xfrm>
          <a:prstGeom prst="rect">
            <a:avLst/>
          </a:prstGeom>
          <a:noFill/>
          <a:ln/>
        </p:spPr>
        <p:txBody>
          <a:bodyPr wrap="square" lIns="0" tIns="0" rIns="0" bIns="0" rtlCol="0" anchor="ctr"/>
          <a:lstStyle/>
          <a:p>
            <a:pPr marL="0" indent="0">
              <a:buNone/>
            </a:pPr>
            <a:r>
              <a:rPr lang="en-US" sz="1700" b="1" dirty="0">
                <a:solidFill>
                  <a:schemeClr val="tx2"/>
                </a:solidFill>
              </a:rPr>
              <a:t>Similar assistants exist</a:t>
            </a:r>
            <a:endParaRPr lang="en-US" sz="1700" dirty="0"/>
          </a:p>
        </p:txBody>
      </p:sp>
      <p:sp>
        <p:nvSpPr>
          <p:cNvPr id="12" name="Text 10"/>
          <p:cNvSpPr txBox="1"/>
          <p:nvPr/>
        </p:nvSpPr>
        <p:spPr>
          <a:xfrm>
            <a:off x="6446520" y="2377440"/>
            <a:ext cx="4892040" cy="960120"/>
          </a:xfrm>
          <a:prstGeom prst="rect">
            <a:avLst/>
          </a:prstGeom>
          <a:noFill/>
          <a:ln/>
        </p:spPr>
        <p:txBody>
          <a:bodyPr wrap="square" lIns="0" tIns="0" rIns="0" bIns="0" rtlCol="0" anchor="t"/>
          <a:lstStyle/>
          <a:p>
            <a:pPr marL="0" indent="0">
              <a:buNone/>
            </a:pPr>
            <a:r>
              <a:rPr lang="en-US" sz="1500" dirty="0">
                <a:solidFill>
                  <a:schemeClr val="tx1"/>
                </a:solidFill>
              </a:rPr>
              <a:t>The difference is the knowledge-status labels and a measured reduction in errors. A prior-work survey is needed first.</a:t>
            </a:r>
            <a:endParaRPr lang="en-US" sz="1500" dirty="0"/>
          </a:p>
        </p:txBody>
      </p:sp>
      <p:sp>
        <p:nvSpPr>
          <p:cNvPr id="13" name="risk-2"/>
          <p:cNvSpPr/>
          <p:nvPr/>
        </p:nvSpPr>
        <p:spPr>
          <a:xfrm>
            <a:off x="548640" y="3657600"/>
            <a:ext cx="5440680" cy="2103120"/>
          </a:xfrm>
          <a:prstGeom prst="roundRect">
            <a:avLst>
              <a:gd name="adj" fmla="val 5217"/>
            </a:avLst>
          </a:prstGeom>
          <a:solidFill>
            <a:schemeClr val="bg2"/>
          </a:solidFill>
          <a:ln/>
        </p:spPr>
      </p:sp>
      <p:sp>
        <p:nvSpPr>
          <p:cNvPr id="14" name="risk-num-2"/>
          <p:cNvSpPr/>
          <p:nvPr/>
        </p:nvSpPr>
        <p:spPr>
          <a:xfrm>
            <a:off x="822960" y="3931920"/>
            <a:ext cx="548640" cy="548640"/>
          </a:xfrm>
          <a:prstGeom prst="ellipse">
            <a:avLst/>
          </a:prstGeom>
          <a:solidFill>
            <a:schemeClr val="accent4"/>
          </a:solidFill>
          <a:ln/>
        </p:spPr>
      </p:sp>
      <p:sp>
        <p:nvSpPr>
          <p:cNvPr id="15" name="Text 13"/>
          <p:cNvSpPr txBox="1"/>
          <p:nvPr/>
        </p:nvSpPr>
        <p:spPr>
          <a:xfrm>
            <a:off x="822960" y="39319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1554480" y="3931920"/>
            <a:ext cx="4206240" cy="548640"/>
          </a:xfrm>
          <a:prstGeom prst="rect">
            <a:avLst/>
          </a:prstGeom>
          <a:noFill/>
          <a:ln/>
        </p:spPr>
        <p:txBody>
          <a:bodyPr wrap="square" lIns="0" tIns="0" rIns="0" bIns="0" rtlCol="0" anchor="ctr"/>
          <a:lstStyle/>
          <a:p>
            <a:pPr marL="0" indent="0">
              <a:buNone/>
            </a:pPr>
            <a:r>
              <a:rPr lang="en-US" sz="1700" b="1" dirty="0">
                <a:solidFill>
                  <a:schemeClr val="tx2"/>
                </a:solidFill>
              </a:rPr>
              <a:t>Data limits</a:t>
            </a:r>
            <a:endParaRPr lang="en-US" sz="1700" dirty="0"/>
          </a:p>
        </p:txBody>
      </p:sp>
      <p:sp>
        <p:nvSpPr>
          <p:cNvPr id="17" name="Text 15"/>
          <p:cNvSpPr txBox="1"/>
          <p:nvPr/>
        </p:nvSpPr>
        <p:spPr>
          <a:xfrm>
            <a:off x="822960" y="4663440"/>
            <a:ext cx="4892040" cy="960120"/>
          </a:xfrm>
          <a:prstGeom prst="rect">
            <a:avLst/>
          </a:prstGeom>
          <a:noFill/>
          <a:ln/>
        </p:spPr>
        <p:txBody>
          <a:bodyPr wrap="square" lIns="0" tIns="0" rIns="0" bIns="0" rtlCol="0" anchor="t"/>
          <a:lstStyle/>
          <a:p>
            <a:pPr marL="0" indent="0">
              <a:buNone/>
            </a:pPr>
            <a:r>
              <a:rPr lang="en-US" sz="1500" dirty="0">
                <a:solidFill>
                  <a:schemeClr val="tx1"/>
                </a:solidFill>
              </a:rPr>
              <a:t>One market first. Some fields (e.g. free float) may not be free; check before committing.</a:t>
            </a:r>
            <a:endParaRPr lang="en-US" sz="1500" dirty="0"/>
          </a:p>
        </p:txBody>
      </p:sp>
      <p:sp>
        <p:nvSpPr>
          <p:cNvPr id="18" name="risk-3"/>
          <p:cNvSpPr/>
          <p:nvPr/>
        </p:nvSpPr>
        <p:spPr>
          <a:xfrm>
            <a:off x="6172200" y="3657600"/>
            <a:ext cx="5440680" cy="2103120"/>
          </a:xfrm>
          <a:prstGeom prst="roundRect">
            <a:avLst>
              <a:gd name="adj" fmla="val 5217"/>
            </a:avLst>
          </a:prstGeom>
          <a:solidFill>
            <a:schemeClr val="bg2"/>
          </a:solidFill>
          <a:ln/>
        </p:spPr>
      </p:sp>
      <p:sp>
        <p:nvSpPr>
          <p:cNvPr id="19" name="risk-num-3"/>
          <p:cNvSpPr/>
          <p:nvPr/>
        </p:nvSpPr>
        <p:spPr>
          <a:xfrm>
            <a:off x="6446520" y="3931920"/>
            <a:ext cx="548640" cy="548640"/>
          </a:xfrm>
          <a:prstGeom prst="ellipse">
            <a:avLst/>
          </a:prstGeom>
          <a:solidFill>
            <a:schemeClr val="accent4"/>
          </a:solidFill>
          <a:ln/>
        </p:spPr>
      </p:sp>
      <p:sp>
        <p:nvSpPr>
          <p:cNvPr id="20" name="Text 18"/>
          <p:cNvSpPr txBox="1"/>
          <p:nvPr/>
        </p:nvSpPr>
        <p:spPr>
          <a:xfrm>
            <a:off x="6446520" y="39319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7178040" y="3931920"/>
            <a:ext cx="4206240" cy="548640"/>
          </a:xfrm>
          <a:prstGeom prst="rect">
            <a:avLst/>
          </a:prstGeom>
          <a:noFill/>
          <a:ln/>
        </p:spPr>
        <p:txBody>
          <a:bodyPr wrap="square" lIns="0" tIns="0" rIns="0" bIns="0" rtlCol="0" anchor="ctr"/>
          <a:lstStyle/>
          <a:p>
            <a:pPr marL="0" indent="0">
              <a:buNone/>
            </a:pPr>
            <a:r>
              <a:rPr lang="en-US" sz="1700" b="1" dirty="0">
                <a:solidFill>
                  <a:schemeClr val="tx2"/>
                </a:solidFill>
              </a:rPr>
              <a:t>No personal advice</a:t>
            </a:r>
            <a:endParaRPr lang="en-US" sz="1700" dirty="0"/>
          </a:p>
        </p:txBody>
      </p:sp>
      <p:sp>
        <p:nvSpPr>
          <p:cNvPr id="22" name="Text 20"/>
          <p:cNvSpPr txBox="1"/>
          <p:nvPr/>
        </p:nvSpPr>
        <p:spPr>
          <a:xfrm>
            <a:off x="6446520" y="4663440"/>
            <a:ext cx="4892040" cy="960120"/>
          </a:xfrm>
          <a:prstGeom prst="rect">
            <a:avLst/>
          </a:prstGeom>
          <a:noFill/>
          <a:ln/>
        </p:spPr>
        <p:txBody>
          <a:bodyPr wrap="square" lIns="0" tIns="0" rIns="0" bIns="0" rtlCol="0" anchor="t"/>
          <a:lstStyle/>
          <a:p>
            <a:pPr marL="0" indent="0">
              <a:buNone/>
            </a:pPr>
            <a:r>
              <a:rPr lang="en-US" sz="1500" dirty="0">
                <a:solidFill>
                  <a:schemeClr val="tx1"/>
                </a:solidFill>
              </a:rPr>
              <a:t>Information for the user's own decision, not recommendations. This is also a legal line in Japan.</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One-year plan</a:t>
            </a:r>
            <a:endParaRPr lang="en-US" sz="3200" dirty="0"/>
          </a:p>
        </p:txBody>
      </p:sp>
      <p:sp>
        <p:nvSpPr>
          <p:cNvPr id="3" name="plan-line"/>
          <p:cNvSpPr/>
          <p:nvPr/>
        </p:nvSpPr>
        <p:spPr>
          <a:xfrm>
            <a:off x="914400" y="2377440"/>
            <a:ext cx="10332720" cy="0"/>
          </a:xfrm>
          <a:prstGeom prst="line">
            <a:avLst/>
          </a:prstGeom>
          <a:noFill/>
          <a:ln w="25400">
            <a:solidFill>
              <a:schemeClr val="accent4"/>
            </a:solidFill>
            <a:prstDash val="solid"/>
          </a:ln>
        </p:spPr>
      </p:sp>
      <p:sp>
        <p:nvSpPr>
          <p:cNvPr id="4" name="plan-dot-0"/>
          <p:cNvSpPr/>
          <p:nvPr/>
        </p:nvSpPr>
        <p:spPr>
          <a:xfrm>
            <a:off x="1298448" y="2103120"/>
            <a:ext cx="548640" cy="548640"/>
          </a:xfrm>
          <a:prstGeom prst="ellipse">
            <a:avLst/>
          </a:prstGeom>
          <a:solidFill>
            <a:schemeClr val="accent2"/>
          </a:solidFill>
          <a:ln/>
        </p:spPr>
      </p:sp>
      <p:sp>
        <p:nvSpPr>
          <p:cNvPr id="5" name="Text 3"/>
          <p:cNvSpPr txBox="1"/>
          <p:nvPr/>
        </p:nvSpPr>
        <p:spPr>
          <a:xfrm>
            <a:off x="1298448" y="21031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548640" y="1417320"/>
            <a:ext cx="2057400" cy="457200"/>
          </a:xfrm>
          <a:prstGeom prst="rect">
            <a:avLst/>
          </a:prstGeom>
          <a:noFill/>
          <a:ln/>
        </p:spPr>
        <p:txBody>
          <a:bodyPr wrap="square" lIns="0" tIns="0" rIns="0" bIns="0" rtlCol="0" anchor="t"/>
          <a:lstStyle/>
          <a:p>
            <a:pPr marL="0" indent="0" algn="ctr">
              <a:buNone/>
            </a:pPr>
            <a:r>
              <a:rPr lang="en-US" sz="1700" b="1" dirty="0">
                <a:solidFill>
                  <a:schemeClr val="tx2"/>
                </a:solidFill>
              </a:rPr>
              <a:t>Apr–Jun</a:t>
            </a:r>
            <a:endParaRPr lang="en-US" sz="1700" dirty="0"/>
          </a:p>
        </p:txBody>
      </p:sp>
      <p:sp>
        <p:nvSpPr>
          <p:cNvPr id="7" name="plan-card-0"/>
          <p:cNvSpPr/>
          <p:nvPr/>
        </p:nvSpPr>
        <p:spPr>
          <a:xfrm>
            <a:off x="548640" y="2926080"/>
            <a:ext cx="2057400" cy="1463040"/>
          </a:xfrm>
          <a:prstGeom prst="roundRect">
            <a:avLst>
              <a:gd name="adj" fmla="val 7500"/>
            </a:avLst>
          </a:prstGeom>
          <a:solidFill>
            <a:schemeClr val="bg2"/>
          </a:solidFill>
          <a:ln/>
        </p:spPr>
      </p:sp>
      <p:sp>
        <p:nvSpPr>
          <p:cNvPr id="8" name="Text 6"/>
          <p:cNvSpPr txBox="1"/>
          <p:nvPr/>
        </p:nvSpPr>
        <p:spPr>
          <a:xfrm>
            <a:off x="731520" y="3063240"/>
            <a:ext cx="1691640" cy="1234440"/>
          </a:xfrm>
          <a:prstGeom prst="rect">
            <a:avLst/>
          </a:prstGeom>
          <a:noFill/>
          <a:ln/>
        </p:spPr>
        <p:txBody>
          <a:bodyPr wrap="square" lIns="0" tIns="0" rIns="0" bIns="0" rtlCol="0" anchor="t"/>
          <a:lstStyle/>
          <a:p>
            <a:pPr marL="0" indent="0">
              <a:buNone/>
            </a:pPr>
            <a:r>
              <a:rPr lang="en-US" sz="1500" dirty="0">
                <a:solidFill>
                  <a:schemeClr val="tx1"/>
                </a:solidFill>
              </a:rPr>
              <a:t>Data pipeline and baseline (LLM alone, plain RAG)</a:t>
            </a:r>
            <a:endParaRPr lang="en-US" sz="1500" dirty="0"/>
          </a:p>
        </p:txBody>
      </p:sp>
      <p:sp>
        <p:nvSpPr>
          <p:cNvPr id="9" name="plan-dot-1"/>
          <p:cNvSpPr/>
          <p:nvPr/>
        </p:nvSpPr>
        <p:spPr>
          <a:xfrm>
            <a:off x="3566160" y="2103120"/>
            <a:ext cx="548640" cy="548640"/>
          </a:xfrm>
          <a:prstGeom prst="ellipse">
            <a:avLst/>
          </a:prstGeom>
          <a:solidFill>
            <a:schemeClr val="accent2"/>
          </a:solidFill>
          <a:ln/>
        </p:spPr>
      </p:sp>
      <p:sp>
        <p:nvSpPr>
          <p:cNvPr id="10" name="Text 8"/>
          <p:cNvSpPr txBox="1"/>
          <p:nvPr/>
        </p:nvSpPr>
        <p:spPr>
          <a:xfrm>
            <a:off x="3566160" y="21031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2816352" y="1417320"/>
            <a:ext cx="2057400" cy="457200"/>
          </a:xfrm>
          <a:prstGeom prst="rect">
            <a:avLst/>
          </a:prstGeom>
          <a:noFill/>
          <a:ln/>
        </p:spPr>
        <p:txBody>
          <a:bodyPr wrap="square" lIns="0" tIns="0" rIns="0" bIns="0" rtlCol="0" anchor="t"/>
          <a:lstStyle/>
          <a:p>
            <a:pPr marL="0" indent="0" algn="ctr">
              <a:buNone/>
            </a:pPr>
            <a:r>
              <a:rPr lang="en-US" sz="1700" b="1" dirty="0">
                <a:solidFill>
                  <a:schemeClr val="tx2"/>
                </a:solidFill>
              </a:rPr>
              <a:t>Jul–Sep</a:t>
            </a:r>
            <a:endParaRPr lang="en-US" sz="1700" dirty="0"/>
          </a:p>
        </p:txBody>
      </p:sp>
      <p:sp>
        <p:nvSpPr>
          <p:cNvPr id="12" name="plan-card-1"/>
          <p:cNvSpPr/>
          <p:nvPr/>
        </p:nvSpPr>
        <p:spPr>
          <a:xfrm>
            <a:off x="2816352" y="2926080"/>
            <a:ext cx="2057400" cy="1463040"/>
          </a:xfrm>
          <a:prstGeom prst="roundRect">
            <a:avLst>
              <a:gd name="adj" fmla="val 7500"/>
            </a:avLst>
          </a:prstGeom>
          <a:solidFill>
            <a:schemeClr val="bg2"/>
          </a:solidFill>
          <a:ln/>
        </p:spPr>
      </p:sp>
      <p:sp>
        <p:nvSpPr>
          <p:cNvPr id="13" name="Text 11"/>
          <p:cNvSpPr txBox="1"/>
          <p:nvPr/>
        </p:nvSpPr>
        <p:spPr>
          <a:xfrm>
            <a:off x="2999232" y="3063240"/>
            <a:ext cx="1691640" cy="1234440"/>
          </a:xfrm>
          <a:prstGeom prst="rect">
            <a:avLst/>
          </a:prstGeom>
          <a:noFill/>
          <a:ln/>
        </p:spPr>
        <p:txBody>
          <a:bodyPr wrap="square" lIns="0" tIns="0" rIns="0" bIns="0" rtlCol="0" anchor="t"/>
          <a:lstStyle/>
          <a:p>
            <a:pPr marL="0" indent="0">
              <a:buNone/>
            </a:pPr>
            <a:r>
              <a:rPr lang="en-US" sz="1500" dirty="0">
                <a:solidFill>
                  <a:schemeClr val="tx1"/>
                </a:solidFill>
              </a:rPr>
              <a:t>Three knowledge stores, labels, benchmark</a:t>
            </a:r>
            <a:endParaRPr lang="en-US" sz="1500" dirty="0"/>
          </a:p>
        </p:txBody>
      </p:sp>
      <p:sp>
        <p:nvSpPr>
          <p:cNvPr id="14" name="plan-dot-2"/>
          <p:cNvSpPr/>
          <p:nvPr/>
        </p:nvSpPr>
        <p:spPr>
          <a:xfrm>
            <a:off x="5833872" y="2103120"/>
            <a:ext cx="548640" cy="548640"/>
          </a:xfrm>
          <a:prstGeom prst="ellipse">
            <a:avLst/>
          </a:prstGeom>
          <a:solidFill>
            <a:schemeClr val="accent1"/>
          </a:solidFill>
          <a:ln/>
        </p:spPr>
      </p:sp>
      <p:sp>
        <p:nvSpPr>
          <p:cNvPr id="15" name="Text 13"/>
          <p:cNvSpPr txBox="1"/>
          <p:nvPr/>
        </p:nvSpPr>
        <p:spPr>
          <a:xfrm>
            <a:off x="5833872" y="21031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5084064" y="1417320"/>
            <a:ext cx="2057400" cy="457200"/>
          </a:xfrm>
          <a:prstGeom prst="rect">
            <a:avLst/>
          </a:prstGeom>
          <a:noFill/>
          <a:ln/>
        </p:spPr>
        <p:txBody>
          <a:bodyPr wrap="square" lIns="0" tIns="0" rIns="0" bIns="0" rtlCol="0" anchor="t"/>
          <a:lstStyle/>
          <a:p>
            <a:pPr marL="0" indent="0" algn="ctr">
              <a:buNone/>
            </a:pPr>
            <a:r>
              <a:rPr lang="en-US" sz="1700" b="1" dirty="0">
                <a:solidFill>
                  <a:schemeClr val="tx2"/>
                </a:solidFill>
              </a:rPr>
              <a:t>Oct</a:t>
            </a:r>
            <a:endParaRPr lang="en-US" sz="1700" dirty="0"/>
          </a:p>
        </p:txBody>
      </p:sp>
      <p:sp>
        <p:nvSpPr>
          <p:cNvPr id="17" name="plan-card-2"/>
          <p:cNvSpPr/>
          <p:nvPr/>
        </p:nvSpPr>
        <p:spPr>
          <a:xfrm>
            <a:off x="5084064" y="2926080"/>
            <a:ext cx="2057400" cy="1463040"/>
          </a:xfrm>
          <a:prstGeom prst="roundRect">
            <a:avLst>
              <a:gd name="adj" fmla="val 7500"/>
            </a:avLst>
          </a:prstGeom>
          <a:solidFill>
            <a:schemeClr val="bg2"/>
          </a:solidFill>
          <a:ln/>
        </p:spPr>
      </p:sp>
      <p:sp>
        <p:nvSpPr>
          <p:cNvPr id="18" name="Text 16"/>
          <p:cNvSpPr txBox="1"/>
          <p:nvPr/>
        </p:nvSpPr>
        <p:spPr>
          <a:xfrm>
            <a:off x="5266944" y="3063240"/>
            <a:ext cx="1691640" cy="1234440"/>
          </a:xfrm>
          <a:prstGeom prst="rect">
            <a:avLst/>
          </a:prstGeom>
          <a:noFill/>
          <a:ln/>
        </p:spPr>
        <p:txBody>
          <a:bodyPr wrap="square" lIns="0" tIns="0" rIns="0" bIns="0" rtlCol="0" anchor="t"/>
          <a:lstStyle/>
          <a:p>
            <a:pPr marL="0" indent="0">
              <a:buNone/>
            </a:pPr>
            <a:r>
              <a:rPr lang="en-US" sz="1500" dirty="0">
                <a:solidFill>
                  <a:schemeClr val="tx1"/>
                </a:solidFill>
              </a:rPr>
              <a:t>Mid-term presentation with the first comparison</a:t>
            </a:r>
            <a:endParaRPr lang="en-US" sz="1500" dirty="0"/>
          </a:p>
        </p:txBody>
      </p:sp>
      <p:sp>
        <p:nvSpPr>
          <p:cNvPr id="19" name="plan-dot-3"/>
          <p:cNvSpPr/>
          <p:nvPr/>
        </p:nvSpPr>
        <p:spPr>
          <a:xfrm>
            <a:off x="8101584" y="2103120"/>
            <a:ext cx="548640" cy="548640"/>
          </a:xfrm>
          <a:prstGeom prst="ellipse">
            <a:avLst/>
          </a:prstGeom>
          <a:solidFill>
            <a:schemeClr val="accent2"/>
          </a:solidFill>
          <a:ln/>
        </p:spPr>
      </p:sp>
      <p:sp>
        <p:nvSpPr>
          <p:cNvPr id="20" name="Text 18"/>
          <p:cNvSpPr txBox="1"/>
          <p:nvPr/>
        </p:nvSpPr>
        <p:spPr>
          <a:xfrm>
            <a:off x="8101584" y="21031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7351776" y="1417320"/>
            <a:ext cx="2057400" cy="457200"/>
          </a:xfrm>
          <a:prstGeom prst="rect">
            <a:avLst/>
          </a:prstGeom>
          <a:noFill/>
          <a:ln/>
        </p:spPr>
        <p:txBody>
          <a:bodyPr wrap="square" lIns="0" tIns="0" rIns="0" bIns="0" rtlCol="0" anchor="t"/>
          <a:lstStyle/>
          <a:p>
            <a:pPr marL="0" indent="0" algn="ctr">
              <a:buNone/>
            </a:pPr>
            <a:r>
              <a:rPr lang="en-US" sz="1700" b="1" dirty="0">
                <a:solidFill>
                  <a:schemeClr val="tx2"/>
                </a:solidFill>
              </a:rPr>
              <a:t>Nov–Jan</a:t>
            </a:r>
            <a:endParaRPr lang="en-US" sz="1700" dirty="0"/>
          </a:p>
        </p:txBody>
      </p:sp>
      <p:sp>
        <p:nvSpPr>
          <p:cNvPr id="22" name="plan-card-3"/>
          <p:cNvSpPr/>
          <p:nvPr/>
        </p:nvSpPr>
        <p:spPr>
          <a:xfrm>
            <a:off x="7351776" y="2926080"/>
            <a:ext cx="2057400" cy="1463040"/>
          </a:xfrm>
          <a:prstGeom prst="roundRect">
            <a:avLst>
              <a:gd name="adj" fmla="val 7500"/>
            </a:avLst>
          </a:prstGeom>
          <a:solidFill>
            <a:schemeClr val="bg2"/>
          </a:solidFill>
          <a:ln/>
        </p:spPr>
      </p:sp>
      <p:sp>
        <p:nvSpPr>
          <p:cNvPr id="23" name="Text 21"/>
          <p:cNvSpPr txBox="1"/>
          <p:nvPr/>
        </p:nvSpPr>
        <p:spPr>
          <a:xfrm>
            <a:off x="7534656" y="3063240"/>
            <a:ext cx="1691640" cy="1234440"/>
          </a:xfrm>
          <a:prstGeom prst="rect">
            <a:avLst/>
          </a:prstGeom>
          <a:noFill/>
          <a:ln/>
        </p:spPr>
        <p:txBody>
          <a:bodyPr wrap="square" lIns="0" tIns="0" rIns="0" bIns="0" rtlCol="0" anchor="t"/>
          <a:lstStyle/>
          <a:p>
            <a:pPr marL="0" indent="0">
              <a:buNone/>
            </a:pPr>
            <a:r>
              <a:rPr lang="en-US" sz="1500" dirty="0">
                <a:solidFill>
                  <a:schemeClr val="tx1"/>
                </a:solidFill>
              </a:rPr>
              <a:t>Conditional knowledge and bias tests</a:t>
            </a:r>
            <a:endParaRPr lang="en-US" sz="1500" dirty="0"/>
          </a:p>
        </p:txBody>
      </p:sp>
      <p:sp>
        <p:nvSpPr>
          <p:cNvPr id="24" name="plan-dot-4"/>
          <p:cNvSpPr/>
          <p:nvPr/>
        </p:nvSpPr>
        <p:spPr>
          <a:xfrm>
            <a:off x="10369296" y="2103120"/>
            <a:ext cx="548640" cy="548640"/>
          </a:xfrm>
          <a:prstGeom prst="ellipse">
            <a:avLst/>
          </a:prstGeom>
          <a:solidFill>
            <a:schemeClr val="accent2"/>
          </a:solidFill>
          <a:ln/>
        </p:spPr>
      </p:sp>
      <p:sp>
        <p:nvSpPr>
          <p:cNvPr id="25" name="Text 23"/>
          <p:cNvSpPr txBox="1"/>
          <p:nvPr/>
        </p:nvSpPr>
        <p:spPr>
          <a:xfrm>
            <a:off x="10369296" y="21031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6" name="Text 24"/>
          <p:cNvSpPr txBox="1"/>
          <p:nvPr/>
        </p:nvSpPr>
        <p:spPr>
          <a:xfrm>
            <a:off x="9619488" y="1417320"/>
            <a:ext cx="2057400" cy="457200"/>
          </a:xfrm>
          <a:prstGeom prst="rect">
            <a:avLst/>
          </a:prstGeom>
          <a:noFill/>
          <a:ln/>
        </p:spPr>
        <p:txBody>
          <a:bodyPr wrap="square" lIns="0" tIns="0" rIns="0" bIns="0" rtlCol="0" anchor="t"/>
          <a:lstStyle/>
          <a:p>
            <a:pPr marL="0" indent="0" algn="ctr">
              <a:buNone/>
            </a:pPr>
            <a:r>
              <a:rPr lang="en-US" sz="1700" b="1" dirty="0">
                <a:solidFill>
                  <a:schemeClr val="tx2"/>
                </a:solidFill>
              </a:rPr>
              <a:t>Jan–Feb</a:t>
            </a:r>
            <a:endParaRPr lang="en-US" sz="1700" dirty="0"/>
          </a:p>
        </p:txBody>
      </p:sp>
      <p:sp>
        <p:nvSpPr>
          <p:cNvPr id="27" name="plan-card-4"/>
          <p:cNvSpPr/>
          <p:nvPr/>
        </p:nvSpPr>
        <p:spPr>
          <a:xfrm>
            <a:off x="9619488" y="2926080"/>
            <a:ext cx="2057400" cy="1463040"/>
          </a:xfrm>
          <a:prstGeom prst="roundRect">
            <a:avLst>
              <a:gd name="adj" fmla="val 7500"/>
            </a:avLst>
          </a:prstGeom>
          <a:solidFill>
            <a:schemeClr val="bg2"/>
          </a:solidFill>
          <a:ln/>
        </p:spPr>
      </p:sp>
      <p:sp>
        <p:nvSpPr>
          <p:cNvPr id="28" name="Text 26"/>
          <p:cNvSpPr txBox="1"/>
          <p:nvPr/>
        </p:nvSpPr>
        <p:spPr>
          <a:xfrm>
            <a:off x="9802368" y="3063240"/>
            <a:ext cx="1691640" cy="1234440"/>
          </a:xfrm>
          <a:prstGeom prst="rect">
            <a:avLst/>
          </a:prstGeom>
          <a:noFill/>
          <a:ln/>
        </p:spPr>
        <p:txBody>
          <a:bodyPr wrap="square" lIns="0" tIns="0" rIns="0" bIns="0" rtlCol="0" anchor="t"/>
          <a:lstStyle/>
          <a:p>
            <a:pPr marL="0" indent="0">
              <a:buNone/>
            </a:pPr>
            <a:r>
              <a:rPr lang="en-US" sz="1500" dirty="0">
                <a:solidFill>
                  <a:schemeClr val="tx1"/>
                </a:solidFill>
              </a:rPr>
              <a:t>Thesis and final presentation</a:t>
            </a:r>
            <a:endParaRPr lang="en-US" sz="1500" dirty="0"/>
          </a:p>
        </p:txBody>
      </p:sp>
      <p:sp>
        <p:nvSpPr>
          <p:cNvPr id="29" name="plan-before"/>
          <p:cNvSpPr/>
          <p:nvPr/>
        </p:nvSpPr>
        <p:spPr>
          <a:xfrm>
            <a:off x="548640" y="4754880"/>
            <a:ext cx="11064240" cy="1005840"/>
          </a:xfrm>
          <a:prstGeom prst="roundRect">
            <a:avLst>
              <a:gd name="adj" fmla="val 10909"/>
            </a:avLst>
          </a:prstGeom>
          <a:solidFill>
            <a:schemeClr val="bg2"/>
          </a:solidFill>
          <a:ln/>
        </p:spPr>
      </p:sp>
      <p:sp>
        <p:nvSpPr>
          <p:cNvPr id="30" name="plan-before-num"/>
          <p:cNvSpPr/>
          <p:nvPr/>
        </p:nvSpPr>
        <p:spPr>
          <a:xfrm>
            <a:off x="777240" y="4956048"/>
            <a:ext cx="594360" cy="594360"/>
          </a:xfrm>
          <a:prstGeom prst="ellipse">
            <a:avLst/>
          </a:prstGeom>
          <a:solidFill>
            <a:schemeClr val="accent4"/>
          </a:solidFill>
          <a:ln/>
        </p:spPr>
      </p:sp>
      <p:sp>
        <p:nvSpPr>
          <p:cNvPr id="31" name="Text 29"/>
          <p:cNvSpPr txBox="1"/>
          <p:nvPr/>
        </p:nvSpPr>
        <p:spPr>
          <a:xfrm>
            <a:off x="777240" y="4956048"/>
            <a:ext cx="594360" cy="594360"/>
          </a:xfrm>
          <a:prstGeom prst="rect">
            <a:avLst/>
          </a:prstGeom>
          <a:noFill/>
          <a:ln/>
        </p:spPr>
        <p:txBody>
          <a:bodyPr wrap="square" lIns="0" tIns="0" rIns="0" bIns="0" rtlCol="0" anchor="ctr"/>
          <a:lstStyle/>
          <a:p>
            <a:pPr marL="0" indent="0" algn="ctr">
              <a:buNone/>
            </a:pPr>
            <a:r>
              <a:rPr lang="en-US" sz="1600" b="1" dirty="0">
                <a:solidFill>
                  <a:schemeClr val="bg1"/>
                </a:solidFill>
              </a:rPr>
              <a:t>0</a:t>
            </a:r>
            <a:endParaRPr lang="en-US" sz="1600" dirty="0"/>
          </a:p>
        </p:txBody>
      </p:sp>
      <p:sp>
        <p:nvSpPr>
          <p:cNvPr id="32" name="Text 30"/>
          <p:cNvSpPr txBox="1"/>
          <p:nvPr/>
        </p:nvSpPr>
        <p:spPr>
          <a:xfrm>
            <a:off x="1600200" y="4754880"/>
            <a:ext cx="9784080" cy="1005840"/>
          </a:xfrm>
          <a:prstGeom prst="rect">
            <a:avLst/>
          </a:prstGeom>
          <a:noFill/>
          <a:ln/>
        </p:spPr>
        <p:txBody>
          <a:bodyPr wrap="square" lIns="0" tIns="0" rIns="0" bIns="0" rtlCol="0" anchor="ctr"/>
          <a:lstStyle/>
          <a:p>
            <a:pPr marL="0" indent="0">
              <a:buNone/>
            </a:pPr>
            <a:r>
              <a:rPr lang="en-US" sz="1600" b="1" dirty="0">
                <a:solidFill>
                  <a:schemeClr val="tx2"/>
                </a:solidFill>
              </a:rPr>
              <a:t>Before April: </a:t>
            </a:r>
            <a:r>
              <a:rPr lang="en-US" sz="1600" dirty="0">
                <a:solidFill>
                  <a:schemeClr val="tx1"/>
                </a:solidFill>
              </a:rPr>
              <a:t>prior-work survey, choose the market, start writing the labeling guide.</a:t>
            </a:r>
            <a:endParaRPr lang="en-US" sz="1600" dirty="0"/>
          </a:p>
        </p:txBody>
      </p:sp>
      <p:sp>
        <p:nvSpPr>
          <p:cNvPr id="33"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18872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02 · Is the Market a Circle?</a:t>
            </a:r>
            <a:endParaRPr lang="en-US" sz="4000" dirty="0"/>
          </a:p>
        </p:txBody>
      </p:sp>
      <p:sp>
        <p:nvSpPr>
          <p:cNvPr id="3" name="Text 0"/>
          <p:cNvSpPr>
            <a:spLocks noGrp="1"/>
          </p:cNvSpPr>
          <p:nvPr>
            <p:ph type="body" idx="101" hasCustomPrompt="1"/>
          </p:nvPr>
        </p:nvSpPr>
        <p:spPr>
          <a:xfrm>
            <a:off x="731520" y="3703320"/>
            <a:ext cx="10698480" cy="1097280"/>
          </a:xfrm>
          <a:prstGeom prst="rect">
            <a:avLst/>
          </a:prstGeom>
          <a:noFill/>
          <a:ln/>
        </p:spPr>
        <p:txBody>
          <a:bodyPr wrap="square" rtlCol="0" anchor="t"/>
          <a:lstStyle/>
          <a:p>
            <a:pPr marL="0" indent="0">
              <a:buNone/>
            </a:pPr>
            <a:r>
              <a:rPr lang="en-US" sz="2000" dirty="0">
                <a:solidFill>
                  <a:schemeClr val="bg2"/>
                </a:solidFill>
              </a:rPr>
              <a:t>When everyone uses the same indicator, does it stop working, and work again once people leave?</a:t>
            </a: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Popular indicators stop working, then come back</a:t>
            </a:r>
            <a:endParaRPr lang="en-US" sz="3200" dirty="0"/>
          </a:p>
        </p:txBody>
      </p:sp>
      <p:sp>
        <p:nvSpPr>
          <p:cNvPr id="3" name="cycle-0"/>
          <p:cNvSpPr/>
          <p:nvPr/>
        </p:nvSpPr>
        <p:spPr>
          <a:xfrm>
            <a:off x="548640" y="1737360"/>
            <a:ext cx="2743200" cy="1051560"/>
          </a:xfrm>
          <a:prstGeom prst="roundRect">
            <a:avLst>
              <a:gd name="adj" fmla="val 10435"/>
            </a:avLst>
          </a:prstGeom>
          <a:solidFill>
            <a:schemeClr val="bg2"/>
          </a:solidFill>
          <a:ln/>
        </p:spPr>
      </p:sp>
      <p:sp>
        <p:nvSpPr>
          <p:cNvPr id="4" name="Text 2"/>
          <p:cNvSpPr txBox="1"/>
          <p:nvPr/>
        </p:nvSpPr>
        <p:spPr>
          <a:xfrm>
            <a:off x="731520" y="1737360"/>
            <a:ext cx="2377440" cy="1051560"/>
          </a:xfrm>
          <a:prstGeom prst="rect">
            <a:avLst/>
          </a:prstGeom>
          <a:noFill/>
          <a:ln/>
        </p:spPr>
        <p:txBody>
          <a:bodyPr wrap="square" lIns="0" tIns="0" rIns="0" bIns="0" rtlCol="0" anchor="ctr"/>
          <a:lstStyle/>
          <a:p>
            <a:pPr marL="0" indent="0">
              <a:buNone/>
            </a:pPr>
            <a:r>
              <a:rPr lang="en-US" sz="1600" b="1" dirty="0">
                <a:solidFill>
                  <a:schemeClr val="tx2"/>
                </a:solidFill>
              </a:rPr>
              <a:t>1  Indicator works</a:t>
            </a:r>
            <a:endParaRPr lang="en-US" sz="1600" dirty="0"/>
          </a:p>
        </p:txBody>
      </p:sp>
      <p:sp>
        <p:nvSpPr>
          <p:cNvPr id="5" name="cycle-1"/>
          <p:cNvSpPr/>
          <p:nvPr/>
        </p:nvSpPr>
        <p:spPr>
          <a:xfrm>
            <a:off x="3931920" y="1737360"/>
            <a:ext cx="2743200" cy="1051560"/>
          </a:xfrm>
          <a:prstGeom prst="roundRect">
            <a:avLst>
              <a:gd name="adj" fmla="val 10435"/>
            </a:avLst>
          </a:prstGeom>
          <a:solidFill>
            <a:schemeClr val="bg2"/>
          </a:solidFill>
          <a:ln/>
        </p:spPr>
      </p:sp>
      <p:sp>
        <p:nvSpPr>
          <p:cNvPr id="6" name="Text 4"/>
          <p:cNvSpPr txBox="1"/>
          <p:nvPr/>
        </p:nvSpPr>
        <p:spPr>
          <a:xfrm>
            <a:off x="4114800" y="1737360"/>
            <a:ext cx="2377440" cy="1051560"/>
          </a:xfrm>
          <a:prstGeom prst="rect">
            <a:avLst/>
          </a:prstGeom>
          <a:noFill/>
          <a:ln/>
        </p:spPr>
        <p:txBody>
          <a:bodyPr wrap="square" lIns="0" tIns="0" rIns="0" bIns="0" rtlCol="0" anchor="ctr"/>
          <a:lstStyle/>
          <a:p>
            <a:pPr marL="0" indent="0">
              <a:buNone/>
            </a:pPr>
            <a:r>
              <a:rPr lang="en-US" sz="1600" b="1" dirty="0">
                <a:solidFill>
                  <a:schemeClr val="tx2"/>
                </a:solidFill>
              </a:rPr>
              <a:t>2  Everyone uses it</a:t>
            </a:r>
            <a:endParaRPr lang="en-US" sz="1600" dirty="0"/>
          </a:p>
        </p:txBody>
      </p:sp>
      <p:sp>
        <p:nvSpPr>
          <p:cNvPr id="7" name="cycle-2"/>
          <p:cNvSpPr/>
          <p:nvPr/>
        </p:nvSpPr>
        <p:spPr>
          <a:xfrm>
            <a:off x="3931920" y="4480560"/>
            <a:ext cx="2743200" cy="1051560"/>
          </a:xfrm>
          <a:prstGeom prst="roundRect">
            <a:avLst>
              <a:gd name="adj" fmla="val 10435"/>
            </a:avLst>
          </a:prstGeom>
          <a:solidFill>
            <a:schemeClr val="bg2"/>
          </a:solidFill>
          <a:ln/>
        </p:spPr>
      </p:sp>
      <p:sp>
        <p:nvSpPr>
          <p:cNvPr id="8" name="Text 6"/>
          <p:cNvSpPr txBox="1"/>
          <p:nvPr/>
        </p:nvSpPr>
        <p:spPr>
          <a:xfrm>
            <a:off x="4114800" y="4480560"/>
            <a:ext cx="2377440" cy="1051560"/>
          </a:xfrm>
          <a:prstGeom prst="rect">
            <a:avLst/>
          </a:prstGeom>
          <a:noFill/>
          <a:ln/>
        </p:spPr>
        <p:txBody>
          <a:bodyPr wrap="square" lIns="0" tIns="0" rIns="0" bIns="0" rtlCol="0" anchor="ctr"/>
          <a:lstStyle/>
          <a:p>
            <a:pPr marL="0" indent="0">
              <a:buNone/>
            </a:pPr>
            <a:r>
              <a:rPr lang="en-US" sz="1600" b="1" dirty="0">
                <a:solidFill>
                  <a:schemeClr val="tx2"/>
                </a:solidFill>
              </a:rPr>
              <a:t>3  It stops working</a:t>
            </a:r>
            <a:endParaRPr lang="en-US" sz="1600" dirty="0"/>
          </a:p>
        </p:txBody>
      </p:sp>
      <p:sp>
        <p:nvSpPr>
          <p:cNvPr id="9" name="cycle-3"/>
          <p:cNvSpPr/>
          <p:nvPr/>
        </p:nvSpPr>
        <p:spPr>
          <a:xfrm>
            <a:off x="548640" y="4480560"/>
            <a:ext cx="2743200" cy="1051560"/>
          </a:xfrm>
          <a:prstGeom prst="roundRect">
            <a:avLst>
              <a:gd name="adj" fmla="val 10435"/>
            </a:avLst>
          </a:prstGeom>
          <a:solidFill>
            <a:schemeClr val="bg2"/>
          </a:solidFill>
          <a:ln/>
        </p:spPr>
      </p:sp>
      <p:sp>
        <p:nvSpPr>
          <p:cNvPr id="10" name="Text 8"/>
          <p:cNvSpPr txBox="1"/>
          <p:nvPr/>
        </p:nvSpPr>
        <p:spPr>
          <a:xfrm>
            <a:off x="731520" y="4480560"/>
            <a:ext cx="2377440" cy="1051560"/>
          </a:xfrm>
          <a:prstGeom prst="rect">
            <a:avLst/>
          </a:prstGeom>
          <a:noFill/>
          <a:ln/>
        </p:spPr>
        <p:txBody>
          <a:bodyPr wrap="square" lIns="0" tIns="0" rIns="0" bIns="0" rtlCol="0" anchor="ctr"/>
          <a:lstStyle/>
          <a:p>
            <a:pPr marL="0" indent="0">
              <a:buNone/>
            </a:pPr>
            <a:r>
              <a:rPr lang="en-US" sz="1600" b="1" dirty="0">
                <a:solidFill>
                  <a:schemeClr val="tx2"/>
                </a:solidFill>
              </a:rPr>
              <a:t>4  People stop using it</a:t>
            </a:r>
            <a:endParaRPr lang="en-US" sz="1600" dirty="0"/>
          </a:p>
        </p:txBody>
      </p:sp>
      <p:sp>
        <p:nvSpPr>
          <p:cNvPr id="11" name="cycle-arrow-1"/>
          <p:cNvSpPr/>
          <p:nvPr/>
        </p:nvSpPr>
        <p:spPr>
          <a:xfrm>
            <a:off x="3401568" y="2075688"/>
            <a:ext cx="438912" cy="365760"/>
          </a:xfrm>
          <a:prstGeom prst="rightArrow">
            <a:avLst/>
          </a:prstGeom>
          <a:solidFill>
            <a:schemeClr val="accent1"/>
          </a:solidFill>
          <a:ln/>
        </p:spPr>
      </p:sp>
      <p:sp>
        <p:nvSpPr>
          <p:cNvPr id="12" name="cycle-arrow-2"/>
          <p:cNvSpPr/>
          <p:nvPr/>
        </p:nvSpPr>
        <p:spPr>
          <a:xfrm>
            <a:off x="5120640" y="2926080"/>
            <a:ext cx="365760" cy="1417320"/>
          </a:xfrm>
          <a:prstGeom prst="downArrow">
            <a:avLst/>
          </a:prstGeom>
          <a:solidFill>
            <a:schemeClr val="accent1"/>
          </a:solidFill>
          <a:ln/>
        </p:spPr>
      </p:sp>
      <p:sp>
        <p:nvSpPr>
          <p:cNvPr id="13" name="cycle-arrow-3"/>
          <p:cNvSpPr/>
          <p:nvPr/>
        </p:nvSpPr>
        <p:spPr>
          <a:xfrm>
            <a:off x="3401568" y="4818888"/>
            <a:ext cx="438912" cy="365760"/>
          </a:xfrm>
          <a:prstGeom prst="leftArrow">
            <a:avLst/>
          </a:prstGeom>
          <a:solidFill>
            <a:schemeClr val="accent1"/>
          </a:solidFill>
          <a:ln/>
        </p:spPr>
      </p:sp>
      <p:sp>
        <p:nvSpPr>
          <p:cNvPr id="14" name="cycle-arrow-4"/>
          <p:cNvSpPr/>
          <p:nvPr/>
        </p:nvSpPr>
        <p:spPr>
          <a:xfrm>
            <a:off x="1737360" y="2926080"/>
            <a:ext cx="365760" cy="1417320"/>
          </a:xfrm>
          <a:prstGeom prst="upArrow">
            <a:avLst/>
          </a:prstGeom>
          <a:solidFill>
            <a:schemeClr val="accent1"/>
          </a:solidFill>
          <a:ln/>
        </p:spPr>
      </p:sp>
      <p:sp>
        <p:nvSpPr>
          <p:cNvPr id="15" name="question-card"/>
          <p:cNvSpPr/>
          <p:nvPr/>
        </p:nvSpPr>
        <p:spPr>
          <a:xfrm>
            <a:off x="7315200" y="1645920"/>
            <a:ext cx="4297680" cy="3931920"/>
          </a:xfrm>
          <a:prstGeom prst="roundRect">
            <a:avLst>
              <a:gd name="adj" fmla="val 2791"/>
            </a:avLst>
          </a:prstGeom>
          <a:solidFill>
            <a:schemeClr val="bg2"/>
          </a:solidFill>
          <a:ln/>
        </p:spPr>
      </p:sp>
      <p:sp>
        <p:nvSpPr>
          <p:cNvPr id="16" name="Text 14"/>
          <p:cNvSpPr txBox="1"/>
          <p:nvPr/>
        </p:nvSpPr>
        <p:spPr>
          <a:xfrm>
            <a:off x="7589520" y="1874520"/>
            <a:ext cx="3749040" cy="457200"/>
          </a:xfrm>
          <a:prstGeom prst="rect">
            <a:avLst/>
          </a:prstGeom>
          <a:noFill/>
          <a:ln/>
        </p:spPr>
        <p:txBody>
          <a:bodyPr wrap="square" lIns="0" tIns="0" rIns="0" bIns="0" rtlCol="0" anchor="t"/>
          <a:lstStyle/>
          <a:p>
            <a:pPr marL="0" indent="0">
              <a:buNone/>
            </a:pPr>
            <a:r>
              <a:rPr lang="en-US" sz="2000" b="1" dirty="0">
                <a:solidFill>
                  <a:schemeClr val="tx2"/>
                </a:solidFill>
              </a:rPr>
              <a:t>Three links to test</a:t>
            </a:r>
            <a:endParaRPr lang="en-US" sz="2000" dirty="0"/>
          </a:p>
        </p:txBody>
      </p:sp>
      <p:sp>
        <p:nvSpPr>
          <p:cNvPr id="17" name="Text 15"/>
          <p:cNvSpPr txBox="1"/>
          <p:nvPr/>
        </p:nvSpPr>
        <p:spPr>
          <a:xfrm>
            <a:off x="7589520" y="2423160"/>
            <a:ext cx="3749040" cy="192024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600" dirty="0">
                <a:solidFill>
                  <a:schemeClr val="tx1"/>
                </a:solidFill>
              </a:rPr>
              <a:t>Crowded → does it stop working?</a:t>
            </a:r>
            <a:endParaRPr lang="en-US" sz="1600" dirty="0"/>
          </a:p>
          <a:p>
            <a:pPr marL="342900" indent="-342900">
              <a:spcAft>
                <a:spcPts val="600"/>
              </a:spcAft>
              <a:buSzPct val="100000"/>
              <a:buFont typeface="+mj-lt"/>
              <a:buAutoNum type="arabicPeriod"/>
            </a:pPr>
            <a:r>
              <a:rPr lang="en-US" sz="1600" dirty="0">
                <a:solidFill>
                  <a:schemeClr val="tx1"/>
                </a:solidFill>
              </a:rPr>
              <a:t>Deserted → does it work again?</a:t>
            </a:r>
            <a:endParaRPr lang="en-US" sz="1600" dirty="0"/>
          </a:p>
          <a:p>
            <a:pPr marL="342900" indent="-342900">
              <a:spcAft>
                <a:spcPts val="600"/>
              </a:spcAft>
              <a:buSzPct val="100000"/>
              <a:buFont typeface="+mj-lt"/>
              <a:buAutoNum type="arabicPeriod"/>
            </a:pPr>
            <a:r>
              <a:rPr lang="en-US" sz="1600" dirty="0">
                <a:solidFill>
                  <a:schemeClr val="tx1"/>
                </a:solidFill>
              </a:rPr>
              <a:t>Does crowding itself drive the ups and downs, i.e. is it really a cycle?</a:t>
            </a:r>
            <a:endParaRPr lang="en-US" sz="1600" dirty="0"/>
          </a:p>
        </p:txBody>
      </p:sp>
      <p:sp>
        <p:nvSpPr>
          <p:cNvPr id="18" name="Text 16"/>
          <p:cNvSpPr txBox="1"/>
          <p:nvPr/>
        </p:nvSpPr>
        <p:spPr>
          <a:xfrm>
            <a:off x="7589520" y="4434840"/>
            <a:ext cx="3749040" cy="1005840"/>
          </a:xfrm>
          <a:prstGeom prst="rect">
            <a:avLst/>
          </a:prstGeom>
          <a:noFill/>
          <a:ln/>
        </p:spPr>
        <p:txBody>
          <a:bodyPr wrap="square" lIns="0" tIns="0" rIns="0" bIns="0" rtlCol="0" anchor="t"/>
          <a:lstStyle/>
          <a:p>
            <a:pPr marL="0" indent="0">
              <a:buNone/>
            </a:pPr>
            <a:r>
              <a:rPr lang="en-US" sz="1400" i="1" dirty="0">
                <a:solidFill>
                  <a:schemeClr val="accent4"/>
                </a:solidFill>
              </a:rPr>
              <a:t>Example from the mentor: “MACD crosses zero, buy” worked, stopped working, was abandoned, then worked again.</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The toy model: 1,000 traders, one shared indicator</a:t>
            </a:r>
            <a:endParaRPr lang="en-US" sz="3200" dirty="0"/>
          </a:p>
        </p:txBody>
      </p:sp>
      <p:sp>
        <p:nvSpPr>
          <p:cNvPr id="3" name="model-0"/>
          <p:cNvSpPr/>
          <p:nvPr/>
        </p:nvSpPr>
        <p:spPr>
          <a:xfrm>
            <a:off x="548640" y="1417320"/>
            <a:ext cx="3566160" cy="3200400"/>
          </a:xfrm>
          <a:prstGeom prst="roundRect">
            <a:avLst>
              <a:gd name="adj" fmla="val 3429"/>
            </a:avLst>
          </a:prstGeom>
          <a:solidFill>
            <a:schemeClr val="bg2"/>
          </a:solidFill>
          <a:ln/>
        </p:spPr>
      </p:sp>
      <p:sp>
        <p:nvSpPr>
          <p:cNvPr id="4" name="model-icon-0"/>
          <p:cNvSpPr/>
          <p:nvPr/>
        </p:nvSpPr>
        <p:spPr>
          <a:xfrm>
            <a:off x="822960" y="1645920"/>
            <a:ext cx="685800" cy="685800"/>
          </a:xfrm>
          <a:prstGeom prst="ellipse">
            <a:avLst/>
          </a:prstGeom>
          <a:solidFill>
            <a:schemeClr val="accent2"/>
          </a:solidFill>
          <a:ln/>
        </p:spPr>
      </p:sp>
      <p:sp>
        <p:nvSpPr>
          <p:cNvPr id="5" name="Text 3"/>
          <p:cNvSpPr txBox="1"/>
          <p:nvPr/>
        </p:nvSpPr>
        <p:spPr>
          <a:xfrm>
            <a:off x="822960" y="164592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T</a:t>
            </a:r>
            <a:endParaRPr lang="en-US" sz="2000" dirty="0"/>
          </a:p>
        </p:txBody>
      </p:sp>
      <p:sp>
        <p:nvSpPr>
          <p:cNvPr id="6" name="Text 4"/>
          <p:cNvSpPr txBox="1"/>
          <p:nvPr/>
        </p:nvSpPr>
        <p:spPr>
          <a:xfrm>
            <a:off x="1645920" y="1783080"/>
            <a:ext cx="2286000" cy="457200"/>
          </a:xfrm>
          <a:prstGeom prst="rect">
            <a:avLst/>
          </a:prstGeom>
          <a:noFill/>
          <a:ln/>
        </p:spPr>
        <p:txBody>
          <a:bodyPr wrap="square" lIns="0" tIns="0" rIns="0" bIns="0" rtlCol="0" anchor="t"/>
          <a:lstStyle/>
          <a:p>
            <a:pPr marL="0" indent="0">
              <a:buNone/>
            </a:pPr>
            <a:r>
              <a:rPr lang="en-US" sz="1800" b="1" dirty="0">
                <a:solidFill>
                  <a:schemeClr val="tx2"/>
                </a:solidFill>
              </a:rPr>
              <a:t>Traders × 1,000</a:t>
            </a:r>
            <a:endParaRPr lang="en-US" sz="1800" dirty="0"/>
          </a:p>
        </p:txBody>
      </p:sp>
      <p:sp>
        <p:nvSpPr>
          <p:cNvPr id="7" name="Text 5"/>
          <p:cNvSpPr txBox="1"/>
          <p:nvPr/>
        </p:nvSpPr>
        <p:spPr>
          <a:xfrm>
            <a:off x="822960" y="2560320"/>
            <a:ext cx="3017520" cy="1920240"/>
          </a:xfrm>
          <a:prstGeom prst="rect">
            <a:avLst/>
          </a:prstGeom>
          <a:noFill/>
          <a:ln/>
        </p:spPr>
        <p:txBody>
          <a:bodyPr wrap="square" lIns="0" tIns="0" rIns="0" bIns="0" rtlCol="0" anchor="t"/>
          <a:lstStyle/>
          <a:p>
            <a:pPr marL="0" indent="0">
              <a:buNone/>
            </a:pPr>
            <a:r>
              <a:rPr lang="en-US" sz="1500" dirty="0">
                <a:solidFill>
                  <a:schemeClr val="tx1"/>
                </a:solidFill>
              </a:rPr>
              <a:t>Each either follows a trend indicator (EMA crossover, like MACD) or sits out. They switch toward the indicator after it made money recently (logit rule).</a:t>
            </a:r>
            <a:endParaRPr lang="en-US" sz="1500" dirty="0"/>
          </a:p>
        </p:txBody>
      </p:sp>
      <p:sp>
        <p:nvSpPr>
          <p:cNvPr id="8" name="model-1"/>
          <p:cNvSpPr/>
          <p:nvPr/>
        </p:nvSpPr>
        <p:spPr>
          <a:xfrm>
            <a:off x="4297680" y="1417320"/>
            <a:ext cx="3566160" cy="3200400"/>
          </a:xfrm>
          <a:prstGeom prst="roundRect">
            <a:avLst>
              <a:gd name="adj" fmla="val 3429"/>
            </a:avLst>
          </a:prstGeom>
          <a:solidFill>
            <a:schemeClr val="bg2"/>
          </a:solidFill>
          <a:ln/>
        </p:spPr>
      </p:sp>
      <p:sp>
        <p:nvSpPr>
          <p:cNvPr id="9" name="model-icon-1"/>
          <p:cNvSpPr/>
          <p:nvPr/>
        </p:nvSpPr>
        <p:spPr>
          <a:xfrm>
            <a:off x="4572000" y="1645920"/>
            <a:ext cx="685800" cy="685800"/>
          </a:xfrm>
          <a:prstGeom prst="ellipse">
            <a:avLst/>
          </a:prstGeom>
          <a:solidFill>
            <a:schemeClr val="accent1"/>
          </a:solidFill>
          <a:ln/>
        </p:spPr>
      </p:sp>
      <p:sp>
        <p:nvSpPr>
          <p:cNvPr id="10" name="Text 8"/>
          <p:cNvSpPr txBox="1"/>
          <p:nvPr/>
        </p:nvSpPr>
        <p:spPr>
          <a:xfrm>
            <a:off x="4572000" y="164592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P</a:t>
            </a:r>
            <a:endParaRPr lang="en-US" sz="2000" dirty="0"/>
          </a:p>
        </p:txBody>
      </p:sp>
      <p:sp>
        <p:nvSpPr>
          <p:cNvPr id="11" name="Text 9"/>
          <p:cNvSpPr txBox="1"/>
          <p:nvPr/>
        </p:nvSpPr>
        <p:spPr>
          <a:xfrm>
            <a:off x="5394960" y="1783080"/>
            <a:ext cx="2286000" cy="457200"/>
          </a:xfrm>
          <a:prstGeom prst="rect">
            <a:avLst/>
          </a:prstGeom>
          <a:noFill/>
          <a:ln/>
        </p:spPr>
        <p:txBody>
          <a:bodyPr wrap="square" lIns="0" tIns="0" rIns="0" bIns="0" rtlCol="0" anchor="t"/>
          <a:lstStyle/>
          <a:p>
            <a:pPr marL="0" indent="0">
              <a:buNone/>
            </a:pPr>
            <a:r>
              <a:rPr lang="en-US" sz="1800" b="1" dirty="0">
                <a:solidFill>
                  <a:schemeClr val="tx2"/>
                </a:solidFill>
              </a:rPr>
              <a:t>Price</a:t>
            </a:r>
            <a:endParaRPr lang="en-US" sz="1800" dirty="0"/>
          </a:p>
        </p:txBody>
      </p:sp>
      <p:sp>
        <p:nvSpPr>
          <p:cNvPr id="12" name="Text 10"/>
          <p:cNvSpPr txBox="1"/>
          <p:nvPr/>
        </p:nvSpPr>
        <p:spPr>
          <a:xfrm>
            <a:off x="4572000" y="2560320"/>
            <a:ext cx="3017520" cy="1920240"/>
          </a:xfrm>
          <a:prstGeom prst="rect">
            <a:avLst/>
          </a:prstGeom>
          <a:noFill/>
          <a:ln/>
        </p:spPr>
        <p:txBody>
          <a:bodyPr wrap="square" lIns="0" tIns="0" rIns="0" bIns="0" rtlCol="0" anchor="t"/>
          <a:lstStyle/>
          <a:p>
            <a:pPr marL="0" indent="0">
              <a:buNone/>
            </a:pPr>
            <a:r>
              <a:rPr lang="en-US" sz="1500" dirty="0">
                <a:solidFill>
                  <a:schemeClr val="tx1"/>
                </a:solidFill>
              </a:rPr>
              <a:t>Fundamental value (random walk with a trend, so the indicator has a real edge) plus temporary price impact: followers' orders push the price, then it drifts back.</a:t>
            </a:r>
            <a:endParaRPr lang="en-US" sz="1500" dirty="0"/>
          </a:p>
        </p:txBody>
      </p:sp>
      <p:sp>
        <p:nvSpPr>
          <p:cNvPr id="13" name="model-2"/>
          <p:cNvSpPr/>
          <p:nvPr/>
        </p:nvSpPr>
        <p:spPr>
          <a:xfrm>
            <a:off x="8046720" y="1417320"/>
            <a:ext cx="3566160" cy="3200400"/>
          </a:xfrm>
          <a:prstGeom prst="roundRect">
            <a:avLst>
              <a:gd name="adj" fmla="val 3429"/>
            </a:avLst>
          </a:prstGeom>
          <a:solidFill>
            <a:schemeClr val="bg2"/>
          </a:solidFill>
          <a:ln/>
        </p:spPr>
      </p:sp>
      <p:sp>
        <p:nvSpPr>
          <p:cNvPr id="14" name="model-icon-2"/>
          <p:cNvSpPr/>
          <p:nvPr/>
        </p:nvSpPr>
        <p:spPr>
          <a:xfrm>
            <a:off x="8321040" y="1645920"/>
            <a:ext cx="685800" cy="685800"/>
          </a:xfrm>
          <a:prstGeom prst="ellipse">
            <a:avLst/>
          </a:prstGeom>
          <a:solidFill>
            <a:schemeClr val="accent4"/>
          </a:solidFill>
          <a:ln/>
        </p:spPr>
      </p:sp>
      <p:sp>
        <p:nvSpPr>
          <p:cNvPr id="15" name="Text 13"/>
          <p:cNvSpPr txBox="1"/>
          <p:nvPr/>
        </p:nvSpPr>
        <p:spPr>
          <a:xfrm>
            <a:off x="8321040" y="164592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C</a:t>
            </a:r>
            <a:endParaRPr lang="en-US" sz="2000" dirty="0"/>
          </a:p>
        </p:txBody>
      </p:sp>
      <p:sp>
        <p:nvSpPr>
          <p:cNvPr id="16" name="Text 14"/>
          <p:cNvSpPr txBox="1"/>
          <p:nvPr/>
        </p:nvSpPr>
        <p:spPr>
          <a:xfrm>
            <a:off x="9144000" y="1783080"/>
            <a:ext cx="2286000" cy="457200"/>
          </a:xfrm>
          <a:prstGeom prst="rect">
            <a:avLst/>
          </a:prstGeom>
          <a:noFill/>
          <a:ln/>
        </p:spPr>
        <p:txBody>
          <a:bodyPr wrap="square" lIns="0" tIns="0" rIns="0" bIns="0" rtlCol="0" anchor="t"/>
          <a:lstStyle/>
          <a:p>
            <a:pPr marL="0" indent="0">
              <a:buNone/>
            </a:pPr>
            <a:r>
              <a:rPr lang="en-US" sz="1800" b="1" dirty="0">
                <a:solidFill>
                  <a:schemeClr val="tx2"/>
                </a:solidFill>
              </a:rPr>
              <a:t>Control</a:t>
            </a:r>
            <a:endParaRPr lang="en-US" sz="1800" dirty="0"/>
          </a:p>
        </p:txBody>
      </p:sp>
      <p:sp>
        <p:nvSpPr>
          <p:cNvPr id="17" name="Text 15"/>
          <p:cNvSpPr txBox="1"/>
          <p:nvPr/>
        </p:nvSpPr>
        <p:spPr>
          <a:xfrm>
            <a:off x="8321040" y="2560320"/>
            <a:ext cx="3017520" cy="1920240"/>
          </a:xfrm>
          <a:prstGeom prst="rect">
            <a:avLst/>
          </a:prstGeom>
          <a:noFill/>
          <a:ln/>
        </p:spPr>
        <p:txBody>
          <a:bodyPr wrap="square" lIns="0" tIns="0" rIns="0" bIns="0" rtlCol="0" anchor="t"/>
          <a:lstStyle/>
          <a:p>
            <a:pPr marL="0" indent="0">
              <a:buNone/>
            </a:pPr>
            <a:r>
              <a:rPr lang="en-US" sz="1500" dirty="0">
                <a:solidFill>
                  <a:schemeClr val="tx1"/>
                </a:solidFill>
              </a:rPr>
              <a:t>Same random numbers, but orders do not move the price. Any difference from the control is caused by crowding alone.</a:t>
            </a:r>
            <a:endParaRPr lang="en-US" sz="1500" dirty="0"/>
          </a:p>
        </p:txBody>
      </p:sp>
      <p:sp>
        <p:nvSpPr>
          <p:cNvPr id="18" name="Text 16"/>
          <p:cNvSpPr txBox="1"/>
          <p:nvPr/>
        </p:nvSpPr>
        <p:spPr>
          <a:xfrm>
            <a:off x="548640" y="4846320"/>
            <a:ext cx="2743200" cy="411480"/>
          </a:xfrm>
          <a:prstGeom prst="rect">
            <a:avLst/>
          </a:prstGeom>
          <a:noFill/>
          <a:ln/>
        </p:spPr>
        <p:txBody>
          <a:bodyPr wrap="square" lIns="0" tIns="0" rIns="0" bIns="0" rtlCol="0" anchor="t"/>
          <a:lstStyle/>
          <a:p>
            <a:pPr marL="0" indent="0">
              <a:buNone/>
            </a:pPr>
            <a:r>
              <a:rPr lang="en-US" sz="1800" b="1" dirty="0">
                <a:solidFill>
                  <a:schemeClr val="tx2"/>
                </a:solidFill>
              </a:rPr>
              <a:t>What is varied</a:t>
            </a:r>
            <a:endParaRPr lang="en-US" sz="1800" dirty="0"/>
          </a:p>
        </p:txBody>
      </p:sp>
      <p:sp>
        <p:nvSpPr>
          <p:cNvPr id="19" name="varied-0"/>
          <p:cNvSpPr/>
          <p:nvPr/>
        </p:nvSpPr>
        <p:spPr>
          <a:xfrm>
            <a:off x="548640" y="5349240"/>
            <a:ext cx="548640" cy="548640"/>
          </a:xfrm>
          <a:prstGeom prst="ellipse">
            <a:avLst/>
          </a:prstGeom>
          <a:solidFill>
            <a:schemeClr val="accent4"/>
          </a:solidFill>
          <a:ln/>
        </p:spPr>
      </p:sp>
      <p:sp>
        <p:nvSpPr>
          <p:cNvPr id="20" name="Text 18"/>
          <p:cNvSpPr txBox="1"/>
          <p:nvPr/>
        </p:nvSpPr>
        <p:spPr>
          <a:xfrm>
            <a:off x="548640" y="53492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1234440" y="5394960"/>
            <a:ext cx="2926080" cy="457200"/>
          </a:xfrm>
          <a:prstGeom prst="rect">
            <a:avLst/>
          </a:prstGeom>
          <a:noFill/>
          <a:ln/>
        </p:spPr>
        <p:txBody>
          <a:bodyPr wrap="square" lIns="0" tIns="0" rIns="0" bIns="0" rtlCol="0" anchor="ctr"/>
          <a:lstStyle/>
          <a:p>
            <a:pPr marL="0" indent="0">
              <a:buNone/>
            </a:pPr>
            <a:r>
              <a:rPr lang="en-US" sz="1600" dirty="0">
                <a:solidFill>
                  <a:schemeClr val="tx1"/>
                </a:solidFill>
              </a:rPr>
              <a:t>price impact levels (none to high)</a:t>
            </a:r>
            <a:endParaRPr lang="en-US" sz="1600" dirty="0"/>
          </a:p>
        </p:txBody>
      </p:sp>
      <p:sp>
        <p:nvSpPr>
          <p:cNvPr id="22" name="varied-1"/>
          <p:cNvSpPr/>
          <p:nvPr/>
        </p:nvSpPr>
        <p:spPr>
          <a:xfrm>
            <a:off x="4297680" y="5349240"/>
            <a:ext cx="548640" cy="548640"/>
          </a:xfrm>
          <a:prstGeom prst="ellipse">
            <a:avLst/>
          </a:prstGeom>
          <a:solidFill>
            <a:schemeClr val="accent4"/>
          </a:solidFill>
          <a:ln/>
        </p:spPr>
      </p:sp>
      <p:sp>
        <p:nvSpPr>
          <p:cNvPr id="23" name="Text 21"/>
          <p:cNvSpPr txBox="1"/>
          <p:nvPr/>
        </p:nvSpPr>
        <p:spPr>
          <a:xfrm>
            <a:off x="4297680" y="53492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4" name="Text 22"/>
          <p:cNvSpPr txBox="1"/>
          <p:nvPr/>
        </p:nvSpPr>
        <p:spPr>
          <a:xfrm>
            <a:off x="4983480" y="5394960"/>
            <a:ext cx="2926080" cy="457200"/>
          </a:xfrm>
          <a:prstGeom prst="rect">
            <a:avLst/>
          </a:prstGeom>
          <a:noFill/>
          <a:ln/>
        </p:spPr>
        <p:txBody>
          <a:bodyPr wrap="square" lIns="0" tIns="0" rIns="0" bIns="0" rtlCol="0" anchor="ctr"/>
          <a:lstStyle/>
          <a:p>
            <a:pPr marL="0" indent="0">
              <a:buNone/>
            </a:pPr>
            <a:r>
              <a:rPr lang="en-US" sz="1600" dirty="0">
                <a:solidFill>
                  <a:schemeClr val="tx1"/>
                </a:solidFill>
              </a:rPr>
              <a:t>random seeds each</a:t>
            </a:r>
            <a:endParaRPr lang="en-US" sz="1600" dirty="0"/>
          </a:p>
        </p:txBody>
      </p:sp>
      <p:sp>
        <p:nvSpPr>
          <p:cNvPr id="25" name="varied-2"/>
          <p:cNvSpPr/>
          <p:nvPr/>
        </p:nvSpPr>
        <p:spPr>
          <a:xfrm>
            <a:off x="8046720" y="5349240"/>
            <a:ext cx="548640" cy="548640"/>
          </a:xfrm>
          <a:prstGeom prst="ellipse">
            <a:avLst/>
          </a:prstGeom>
          <a:solidFill>
            <a:schemeClr val="accent4"/>
          </a:solidFill>
          <a:ln/>
        </p:spPr>
      </p:sp>
      <p:sp>
        <p:nvSpPr>
          <p:cNvPr id="26" name="Text 24"/>
          <p:cNvSpPr txBox="1"/>
          <p:nvPr/>
        </p:nvSpPr>
        <p:spPr>
          <a:xfrm>
            <a:off x="8046720" y="53492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7" name="Text 25"/>
          <p:cNvSpPr txBox="1"/>
          <p:nvPr/>
        </p:nvSpPr>
        <p:spPr>
          <a:xfrm>
            <a:off x="8732520" y="5394960"/>
            <a:ext cx="2926080" cy="457200"/>
          </a:xfrm>
          <a:prstGeom prst="rect">
            <a:avLst/>
          </a:prstGeom>
          <a:noFill/>
          <a:ln/>
        </p:spPr>
        <p:txBody>
          <a:bodyPr wrap="square" lIns="0" tIns="0" rIns="0" bIns="0" rtlCol="0" anchor="ctr"/>
          <a:lstStyle/>
          <a:p>
            <a:pPr marL="0" indent="0">
              <a:buNone/>
            </a:pPr>
            <a:r>
              <a:rPr lang="en-US" sz="1600" dirty="0">
                <a:solidFill>
                  <a:schemeClr val="tx1"/>
                </a:solidFill>
              </a:rPr>
              <a:t>trend types: switching / constant</a:t>
            </a:r>
            <a:endParaRPr lang="en-US" sz="1600" dirty="0"/>
          </a:p>
        </p:txBody>
      </p:sp>
      <p:sp>
        <p:nvSpPr>
          <p:cNvPr id="28"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Result 1: links 1 and 2 hold when trades move the price</a:t>
            </a:r>
            <a:endParaRPr lang="en-US" sz="3200" dirty="0"/>
          </a:p>
        </p:txBody>
      </p:sp>
      <p:graphicFrame>
        <p:nvGraphicFramePr>
          <p:cNvPr id="3" name="Chart 0"/>
          <p:cNvGraphicFramePr/>
          <p:nvPr/>
        </p:nvGraphicFramePr>
        <p:xfrm>
          <a:off x="548640" y="1371600"/>
          <a:ext cx="69494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sult1-card"/>
          <p:cNvSpPr/>
          <p:nvPr/>
        </p:nvSpPr>
        <p:spPr>
          <a:xfrm>
            <a:off x="7863840" y="1463040"/>
            <a:ext cx="3749040" cy="4434840"/>
          </a:xfrm>
          <a:prstGeom prst="roundRect">
            <a:avLst>
              <a:gd name="adj" fmla="val 2927"/>
            </a:avLst>
          </a:prstGeom>
          <a:solidFill>
            <a:schemeClr val="bg2"/>
          </a:solidFill>
          <a:ln/>
        </p:spPr>
      </p:sp>
      <p:sp>
        <p:nvSpPr>
          <p:cNvPr id="5" name="Text 2"/>
          <p:cNvSpPr txBox="1"/>
          <p:nvPr/>
        </p:nvSpPr>
        <p:spPr>
          <a:xfrm>
            <a:off x="8138160" y="1691640"/>
            <a:ext cx="3291840" cy="822960"/>
          </a:xfrm>
          <a:prstGeom prst="rect">
            <a:avLst/>
          </a:prstGeom>
          <a:noFill/>
          <a:ln/>
        </p:spPr>
        <p:txBody>
          <a:bodyPr wrap="square" lIns="0" tIns="0" rIns="0" bIns="0" rtlCol="0" anchor="t"/>
          <a:lstStyle/>
          <a:p>
            <a:pPr marL="0" indent="0">
              <a:buNone/>
            </a:pPr>
            <a:r>
              <a:rPr lang="en-US" sz="4000" b="1" dirty="0">
                <a:solidFill>
                  <a:schemeClr val="accent3"/>
                </a:solidFill>
                <a:latin typeface="Cambria" pitchFamily="34" charset="0"/>
                <a:ea typeface="Cambria" pitchFamily="34" charset="-122"/>
                <a:cs typeface="Cambria" pitchFamily="34" charset="-120"/>
              </a:rPr>
              <a:t>−10.4 bp</a:t>
            </a:r>
            <a:endParaRPr lang="en-US" sz="4000" dirty="0"/>
          </a:p>
        </p:txBody>
      </p:sp>
      <p:sp>
        <p:nvSpPr>
          <p:cNvPr id="6" name="Text 3"/>
          <p:cNvSpPr txBox="1"/>
          <p:nvPr/>
        </p:nvSpPr>
        <p:spPr>
          <a:xfrm>
            <a:off x="8138160" y="2514600"/>
            <a:ext cx="3200400" cy="731520"/>
          </a:xfrm>
          <a:prstGeom prst="rect">
            <a:avLst/>
          </a:prstGeom>
          <a:noFill/>
          <a:ln/>
        </p:spPr>
        <p:txBody>
          <a:bodyPr wrap="square" lIns="0" tIns="0" rIns="0" bIns="0" rtlCol="0" anchor="t"/>
          <a:lstStyle/>
          <a:p>
            <a:pPr marL="0" indent="0">
              <a:buNone/>
            </a:pPr>
            <a:r>
              <a:rPr lang="en-US" sz="1400" dirty="0">
                <a:solidFill>
                  <a:schemeClr val="tx1"/>
                </a:solidFill>
              </a:rPr>
              <a:t>per step when crowded, at high impact. Few users: only −1.1 bp.</a:t>
            </a:r>
            <a:endParaRPr lang="en-US" sz="1400" dirty="0"/>
          </a:p>
        </p:txBody>
      </p:sp>
      <p:sp>
        <p:nvSpPr>
          <p:cNvPr id="7" name="Text 4"/>
          <p:cNvSpPr txBox="1"/>
          <p:nvPr/>
        </p:nvSpPr>
        <p:spPr>
          <a:xfrm>
            <a:off x="8138160" y="3337560"/>
            <a:ext cx="320040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Link 1: the stronger the impact, the worse crowding gets. Without impact there is no gap.</a:t>
            </a:r>
            <a:endParaRPr lang="en-US" sz="1400" dirty="0"/>
          </a:p>
          <a:p>
            <a:pPr marL="342900" indent="-342900">
              <a:spcAft>
                <a:spcPts val="600"/>
              </a:spcAft>
              <a:buSzPct val="100000"/>
              <a:buChar char="•"/>
            </a:pPr>
            <a:r>
              <a:rPr lang="en-US" sz="1400" dirty="0">
                <a:solidFill>
                  <a:schemeClr val="tx1"/>
                </a:solidFill>
              </a:rPr>
              <a:t>Link 2: with few users, returns stay near the no-impact level, so it “works again”.</a:t>
            </a:r>
            <a:endParaRPr lang="en-US" sz="1400" dirty="0"/>
          </a:p>
          <a:p>
            <a:pPr marL="342900" indent="-342900">
              <a:spcAft>
                <a:spcPts val="600"/>
              </a:spcAft>
              <a:buSzPct val="100000"/>
              <a:buChar char="•"/>
            </a:pPr>
            <a:r>
              <a:rPr lang="en-US" sz="1400" dirty="0">
                <a:solidFill>
                  <a:schemeClr val="tx1"/>
                </a:solidFill>
              </a:rPr>
              <a:t>Why: the crowd pushes the price, then it reverts, so followers buy high. Same with a constant trend.</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Result 2: but crowding does not create the cycle</a:t>
            </a:r>
            <a:endParaRPr lang="en-US" sz="3200" dirty="0"/>
          </a:p>
        </p:txBody>
      </p:sp>
      <p:pic>
        <p:nvPicPr>
          <p:cNvPr id="3" name="crowd-overlay-plot" descr="Share of traders using the indicator over time, with and without price impact; the two lines almost overlap (correlation 0.93)"/>
          <p:cNvPicPr>
            <a:picLocks noChangeAspect="1"/>
          </p:cNvPicPr>
          <p:nvPr/>
        </p:nvPicPr>
        <p:blipFill>
          <a:blip r:embed="rId3"/>
          <a:stretch>
            <a:fillRect/>
          </a:stretch>
        </p:blipFill>
        <p:spPr>
          <a:xfrm>
            <a:off x="548640" y="1280160"/>
            <a:ext cx="11064240" cy="2377440"/>
          </a:xfrm>
          <a:prstGeom prst="rect">
            <a:avLst/>
          </a:prstGeom>
        </p:spPr>
      </p:pic>
      <p:sp>
        <p:nvSpPr>
          <p:cNvPr id="4" name="r2-0"/>
          <p:cNvSpPr/>
          <p:nvPr/>
        </p:nvSpPr>
        <p:spPr>
          <a:xfrm>
            <a:off x="548640" y="3794760"/>
            <a:ext cx="3566160" cy="2240280"/>
          </a:xfrm>
          <a:prstGeom prst="roundRect">
            <a:avLst>
              <a:gd name="adj" fmla="val 4898"/>
            </a:avLst>
          </a:prstGeom>
          <a:solidFill>
            <a:schemeClr val="bg2"/>
          </a:solidFill>
          <a:ln/>
        </p:spPr>
      </p:sp>
      <p:sp>
        <p:nvSpPr>
          <p:cNvPr id="5" name="r2-num-0"/>
          <p:cNvSpPr/>
          <p:nvPr/>
        </p:nvSpPr>
        <p:spPr>
          <a:xfrm>
            <a:off x="777240" y="3977640"/>
            <a:ext cx="457200" cy="457200"/>
          </a:xfrm>
          <a:prstGeom prst="ellipse">
            <a:avLst/>
          </a:prstGeom>
          <a:solidFill>
            <a:schemeClr val="accent1"/>
          </a:solidFill>
          <a:ln/>
        </p:spPr>
      </p:sp>
      <p:sp>
        <p:nvSpPr>
          <p:cNvPr id="6" name="Text 3"/>
          <p:cNvSpPr txBox="1"/>
          <p:nvPr/>
        </p:nvSpPr>
        <p:spPr>
          <a:xfrm>
            <a:off x="777240" y="397764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a:t>
            </a:r>
            <a:endParaRPr lang="en-US" sz="1400" dirty="0"/>
          </a:p>
        </p:txBody>
      </p:sp>
      <p:sp>
        <p:nvSpPr>
          <p:cNvPr id="7" name="Text 4"/>
          <p:cNvSpPr txBox="1"/>
          <p:nvPr/>
        </p:nvSpPr>
        <p:spPr>
          <a:xfrm>
            <a:off x="1371600" y="3977640"/>
            <a:ext cx="2606040" cy="548640"/>
          </a:xfrm>
          <a:prstGeom prst="rect">
            <a:avLst/>
          </a:prstGeom>
          <a:noFill/>
          <a:ln/>
        </p:spPr>
        <p:txBody>
          <a:bodyPr wrap="square" lIns="0" tIns="0" rIns="0" bIns="0" rtlCol="0" anchor="ctr"/>
          <a:lstStyle/>
          <a:p>
            <a:pPr marL="0" indent="0">
              <a:buNone/>
            </a:pPr>
            <a:r>
              <a:rPr lang="en-US" sz="1500" b="1" dirty="0">
                <a:solidFill>
                  <a:schemeClr val="tx2"/>
                </a:solidFill>
              </a:rPr>
              <a:t>Same waves without crowding</a:t>
            </a:r>
            <a:endParaRPr lang="en-US" sz="1500" dirty="0"/>
          </a:p>
        </p:txBody>
      </p:sp>
      <p:sp>
        <p:nvSpPr>
          <p:cNvPr id="8" name="Text 5"/>
          <p:cNvSpPr txBox="1"/>
          <p:nvPr/>
        </p:nvSpPr>
        <p:spPr>
          <a:xfrm>
            <a:off x="777240" y="4617720"/>
            <a:ext cx="3154680" cy="1325880"/>
          </a:xfrm>
          <a:prstGeom prst="rect">
            <a:avLst/>
          </a:prstGeom>
          <a:noFill/>
          <a:ln/>
        </p:spPr>
        <p:txBody>
          <a:bodyPr wrap="square" lIns="0" tIns="0" rIns="0" bIns="0" rtlCol="0" anchor="t"/>
          <a:lstStyle/>
          <a:p>
            <a:pPr marL="0" indent="0">
              <a:buNone/>
            </a:pPr>
            <a:r>
              <a:rPr lang="en-US" sz="1400" dirty="0">
                <a:solidFill>
                  <a:schemeClr val="tx1"/>
                </a:solidFill>
              </a:rPr>
              <a:t>With and without price impact, the crowd rises and falls almost the same way (correlation 0.87–0.97). The waves come from chasing recent luck.</a:t>
            </a:r>
            <a:endParaRPr lang="en-US" sz="1400" dirty="0"/>
          </a:p>
        </p:txBody>
      </p:sp>
      <p:sp>
        <p:nvSpPr>
          <p:cNvPr id="9" name="r2-1"/>
          <p:cNvSpPr/>
          <p:nvPr/>
        </p:nvSpPr>
        <p:spPr>
          <a:xfrm>
            <a:off x="4297680" y="3794760"/>
            <a:ext cx="3566160" cy="2240280"/>
          </a:xfrm>
          <a:prstGeom prst="roundRect">
            <a:avLst>
              <a:gd name="adj" fmla="val 4898"/>
            </a:avLst>
          </a:prstGeom>
          <a:solidFill>
            <a:schemeClr val="bg2"/>
          </a:solidFill>
          <a:ln/>
        </p:spPr>
      </p:sp>
      <p:sp>
        <p:nvSpPr>
          <p:cNvPr id="10" name="r2-num-1"/>
          <p:cNvSpPr/>
          <p:nvPr/>
        </p:nvSpPr>
        <p:spPr>
          <a:xfrm>
            <a:off x="4526280" y="3977640"/>
            <a:ext cx="457200" cy="457200"/>
          </a:xfrm>
          <a:prstGeom prst="ellipse">
            <a:avLst/>
          </a:prstGeom>
          <a:solidFill>
            <a:schemeClr val="accent3"/>
          </a:solidFill>
          <a:ln/>
        </p:spPr>
      </p:sp>
      <p:sp>
        <p:nvSpPr>
          <p:cNvPr id="11" name="Text 8"/>
          <p:cNvSpPr txBox="1"/>
          <p:nvPr/>
        </p:nvSpPr>
        <p:spPr>
          <a:xfrm>
            <a:off x="4526280" y="397764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b</a:t>
            </a:r>
            <a:endParaRPr lang="en-US" sz="1400" dirty="0"/>
          </a:p>
        </p:txBody>
      </p:sp>
      <p:sp>
        <p:nvSpPr>
          <p:cNvPr id="12" name="Text 9"/>
          <p:cNvSpPr txBox="1"/>
          <p:nvPr/>
        </p:nvSpPr>
        <p:spPr>
          <a:xfrm>
            <a:off x="5120640" y="3977640"/>
            <a:ext cx="2606040" cy="548640"/>
          </a:xfrm>
          <a:prstGeom prst="rect">
            <a:avLst/>
          </a:prstGeom>
          <a:noFill/>
          <a:ln/>
        </p:spPr>
        <p:txBody>
          <a:bodyPr wrap="square" lIns="0" tIns="0" rIns="0" bIns="0" rtlCol="0" anchor="ctr"/>
          <a:lstStyle/>
          <a:p>
            <a:pPr marL="0" indent="0">
              <a:buNone/>
            </a:pPr>
            <a:r>
              <a:rPr lang="en-US" sz="1500" b="1" dirty="0">
                <a:solidFill>
                  <a:schemeClr val="tx2"/>
                </a:solidFill>
              </a:rPr>
              <a:t>Crowding is a brake, not a clock</a:t>
            </a:r>
            <a:endParaRPr lang="en-US" sz="1500" dirty="0"/>
          </a:p>
        </p:txBody>
      </p:sp>
      <p:sp>
        <p:nvSpPr>
          <p:cNvPr id="13" name="Text 10"/>
          <p:cNvSpPr txBox="1"/>
          <p:nvPr/>
        </p:nvSpPr>
        <p:spPr>
          <a:xfrm>
            <a:off x="4526280" y="4617720"/>
            <a:ext cx="3154680" cy="1325880"/>
          </a:xfrm>
          <a:prstGeom prst="rect">
            <a:avLst/>
          </a:prstGeom>
          <a:noFill/>
          <a:ln/>
        </p:spPr>
        <p:txBody>
          <a:bodyPr wrap="square" lIns="0" tIns="0" rIns="0" bIns="0" rtlCol="0" anchor="t"/>
          <a:lstStyle/>
          <a:p>
            <a:pPr marL="0" indent="0">
              <a:buNone/>
            </a:pPr>
            <a:r>
              <a:rPr lang="en-US" sz="1400" dirty="0">
                <a:solidFill>
                  <a:schemeClr val="tx1"/>
                </a:solidFill>
              </a:rPr>
              <a:t>Impact makes the crowd settle smaller (average share 0.55 → 0.37). It never makes the waves bigger or more regular, even with a constant trend.</a:t>
            </a:r>
            <a:endParaRPr lang="en-US" sz="1400" dirty="0"/>
          </a:p>
        </p:txBody>
      </p:sp>
      <p:sp>
        <p:nvSpPr>
          <p:cNvPr id="14" name="r2-2"/>
          <p:cNvSpPr/>
          <p:nvPr/>
        </p:nvSpPr>
        <p:spPr>
          <a:xfrm>
            <a:off x="8046720" y="3794760"/>
            <a:ext cx="3566160" cy="2240280"/>
          </a:xfrm>
          <a:prstGeom prst="roundRect">
            <a:avLst>
              <a:gd name="adj" fmla="val 4898"/>
            </a:avLst>
          </a:prstGeom>
          <a:solidFill>
            <a:schemeClr val="bg2"/>
          </a:solidFill>
          <a:ln/>
        </p:spPr>
      </p:sp>
      <p:sp>
        <p:nvSpPr>
          <p:cNvPr id="15" name="r2-num-2"/>
          <p:cNvSpPr/>
          <p:nvPr/>
        </p:nvSpPr>
        <p:spPr>
          <a:xfrm>
            <a:off x="8275320" y="3977640"/>
            <a:ext cx="457200" cy="457200"/>
          </a:xfrm>
          <a:prstGeom prst="ellipse">
            <a:avLst/>
          </a:prstGeom>
          <a:solidFill>
            <a:schemeClr val="accent2"/>
          </a:solidFill>
          <a:ln/>
        </p:spPr>
      </p:sp>
      <p:sp>
        <p:nvSpPr>
          <p:cNvPr id="16" name="Text 13"/>
          <p:cNvSpPr txBox="1"/>
          <p:nvPr/>
        </p:nvSpPr>
        <p:spPr>
          <a:xfrm>
            <a:off x="8275320" y="397764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7" name="Text 14"/>
          <p:cNvSpPr txBox="1"/>
          <p:nvPr/>
        </p:nvSpPr>
        <p:spPr>
          <a:xfrm>
            <a:off x="8869680" y="3977640"/>
            <a:ext cx="2606040" cy="548640"/>
          </a:xfrm>
          <a:prstGeom prst="rect">
            <a:avLst/>
          </a:prstGeom>
          <a:noFill/>
          <a:ln/>
        </p:spPr>
        <p:txBody>
          <a:bodyPr wrap="square" lIns="0" tIns="0" rIns="0" bIns="0" rtlCol="0" anchor="ctr"/>
          <a:lstStyle/>
          <a:p>
            <a:pPr marL="0" indent="0">
              <a:buNone/>
            </a:pPr>
            <a:r>
              <a:rPr lang="en-US" sz="1500" b="1" dirty="0">
                <a:solidFill>
                  <a:schemeClr val="tx2"/>
                </a:solidFill>
              </a:rPr>
              <a:t>Next</a:t>
            </a:r>
            <a:endParaRPr lang="en-US" sz="1500" dirty="0"/>
          </a:p>
        </p:txBody>
      </p:sp>
      <p:sp>
        <p:nvSpPr>
          <p:cNvPr id="18" name="Text 15"/>
          <p:cNvSpPr txBox="1"/>
          <p:nvPr/>
        </p:nvSpPr>
        <p:spPr>
          <a:xfrm>
            <a:off x="8275320" y="4617720"/>
            <a:ext cx="3154680" cy="1325880"/>
          </a:xfrm>
          <a:prstGeom prst="rect">
            <a:avLst/>
          </a:prstGeom>
          <a:noFill/>
          <a:ln/>
        </p:spPr>
        <p:txBody>
          <a:bodyPr wrap="square" lIns="0" tIns="0" rIns="0" bIns="0" rtlCol="0" anchor="t"/>
          <a:lstStyle/>
          <a:p>
            <a:pPr marL="0" indent="0">
              <a:buNone/>
            </a:pPr>
            <a:r>
              <a:rPr lang="en-US" sz="1400" dirty="0">
                <a:solidFill>
                  <a:schemeClr val="tx1"/>
                </a:solidFill>
              </a:rPr>
              <a:t>Try other switching rules (imitating others, not luck). Check with real data: how indicator returns vary with a crowding proxy. Compare with Brock–Hommes and PAMS.</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10698480" cy="137160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Questions for Discussion</a:t>
            </a:r>
            <a:endParaRPr lang="en-US" sz="4000" dirty="0"/>
          </a:p>
        </p:txBody>
      </p:sp>
      <p:sp>
        <p:nvSpPr>
          <p:cNvPr id="3" name="Text 0"/>
          <p:cNvSpPr>
            <a:spLocks noGrp="1"/>
          </p:cNvSpPr>
          <p:nvPr>
            <p:ph type="body" idx="101" hasCustomPrompt="1"/>
          </p:nvPr>
        </p:nvSpPr>
        <p:spPr>
          <a:xfrm>
            <a:off x="731520" y="3154680"/>
            <a:ext cx="10698480" cy="1463040"/>
          </a:xfrm>
          <a:prstGeom prst="rect">
            <a:avLst/>
          </a:prstGeom>
          <a:noFill/>
          <a:ln/>
        </p:spPr>
        <p:txBody>
          <a:bodyPr wrap="square" rtlCol="0" anchor="t"/>
          <a:lstStyle/>
          <a:p>
            <a:pPr marL="0" indent="0">
              <a:buNone/>
            </a:pPr>
            <a:r>
              <a:rPr lang="en-US" sz="2000" dirty="0">
                <a:solidFill>
                  <a:schemeClr val="accent1"/>
                </a:solidFill>
              </a:rPr>
              <a:t>1  Is topic 01 a good direction, and is its scope right for one year?</a:t>
            </a:r>
            <a:endParaRPr lang="en-US" sz="2000" dirty="0"/>
          </a:p>
          <a:p>
            <a:pPr marL="0" indent="0">
              <a:buNone/>
            </a:pPr>
            <a:r>
              <a:rPr lang="en-US" sz="2000" dirty="0">
                <a:solidFill>
                  <a:schemeClr val="accent1"/>
                </a:solidFill>
              </a:rPr>
              <a:t>2  How large should the evaluation set for 01 be?</a:t>
            </a:r>
            <a:endParaRPr lang="en-US" sz="2000" dirty="0"/>
          </a:p>
          <a:p>
            <a:pPr marL="0" indent="0">
              <a:buNone/>
            </a:pPr>
            <a:r>
              <a:rPr lang="en-US" sz="2000" dirty="0">
                <a:solidFill>
                  <a:schemeClr val="accent1"/>
                </a:solidFill>
              </a:rPr>
              <a:t>3  LLM API costs: lab budget, or local models?</a:t>
            </a:r>
            <a:endParaRPr lang="en-US" sz="2000" dirty="0"/>
          </a:p>
        </p:txBody>
      </p:sp>
    </p:spTree>
  </p:cSld>
  <p:clrMapOvr>
    <a:masterClrMapping/>
  </p:clrMapOvr>
</p:sld>
</file>

<file path=ppt/theme/theme1.xml><?xml version="1.0" encoding="utf-8"?>
<a:theme xmlns:a="http://schemas.openxmlformats.org/drawingml/2006/main" name="Sotsuken Ink">
  <a:themeElements>
    <a:clrScheme name="Sotsuken Ink">
      <a:dk1>
        <a:srgbClr val="1B1B1B"/>
      </a:dk1>
      <a:lt1>
        <a:srgbClr val="FFFFFF"/>
      </a:lt1>
      <a:dk2>
        <a:srgbClr val="16323F"/>
      </a:dk2>
      <a:lt2>
        <a:srgbClr val="EEF3F4"/>
      </a:lt2>
      <a:accent1>
        <a:srgbClr val="E0A526"/>
      </a:accent1>
      <a:accent2>
        <a:srgbClr val="2A9D8F"/>
      </a:accent2>
      <a:accent3>
        <a:srgbClr val="E76F51"/>
      </a:accent3>
      <a:accent4>
        <a:srgbClr val="5B7C99"/>
      </a:accent4>
      <a:accent5>
        <a:srgbClr val="8AB17D"/>
      </a:accent5>
      <a:accent6>
        <a:srgbClr val="264653"/>
      </a:accent6>
      <a:hlink>
        <a:srgbClr val="2A9D8F"/>
      </a:hlink>
      <a:folHlink>
        <a:srgbClr val="5B7C99"/>
      </a:folHlink>
    </a:clrScheme>
    <a:fontScheme name="Sotsuken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2204</Words>
  <Application>Microsoft Office PowerPoint</Application>
  <PresentationFormat>Widescreen</PresentationFormat>
  <Paragraphs>279</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Sotsuken Ink</vt:lpstr>
      <vt:lpstr>Graduation Research: Two Topic Candidates</vt:lpstr>
      <vt:lpstr>Two candidates, each with a working prototype</vt:lpstr>
      <vt:lpstr>01 · Natural-Language Investment LLM for Retail Investors</vt:lpstr>
      <vt:lpstr>Retail investors don't know what they don't know</vt:lpstr>
      <vt:lpstr>Six question types, each answered differently</vt:lpstr>
      <vt:lpstr>Three kinds of knowledge, stored and shown differently</vt:lpstr>
      <vt:lpstr>Architecture: the mentor's four building blocks</vt:lpstr>
      <vt:lpstr>What an answer should look like</vt:lpstr>
      <vt:lpstr>How each failure is reduced, and how it is measured</vt:lpstr>
      <vt:lpstr>Research questions and evaluation</vt:lpstr>
      <vt:lpstr>What the spikes already show</vt:lpstr>
      <vt:lpstr>Risks and how the scope handles them</vt:lpstr>
      <vt:lpstr>One-year plan</vt:lpstr>
      <vt:lpstr>02 · Is the Market a Circle?</vt:lpstr>
      <vt:lpstr>Popular indicators stop working, then come back</vt:lpstr>
      <vt:lpstr>The toy model: 1,000 traders, one shared indicator</vt:lpstr>
      <vt:lpstr>Result 1: links 1 and 2 hold when trades move the price</vt:lpstr>
      <vt:lpstr>Result 2: but crowding does not create the cycle</vt:lpstr>
      <vt:lpstr>Questions for Discussion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Graduation research topic candidates</dc:title>
  <dc:subject>PptxGenJS Presentation</dc:subject>
  <dc:creator>Nim</dc:creator>
  <cp:lastModifiedBy>Kantaphat</cp:lastModifiedBy>
  <cp:revision>2</cp:revision>
  <dcterms:created xsi:type="dcterms:W3CDTF">2026-10-27T02:59:16Z</dcterms:created>
  <dcterms:modified xsi:type="dcterms:W3CDTF">2026-10-27T03:44:42Z</dcterms:modified>
</cp:coreProperties>
</file>